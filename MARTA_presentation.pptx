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1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228600" cy="228600"/>
          </a:xfrm>
          <a:prstGeom prst="rect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6ECF5"/>
                </a:solidFill>
                <a:latin typeface="Calibri"/>
              </a:rPr>
              <a:t>GECAD  ·  PYTHON TEST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0" b="1" i="0">
                <a:solidFill>
                  <a:srgbClr val="E6ECF5"/>
                </a:solidFill>
                <a:latin typeface="Cambria"/>
              </a:rPr>
              <a:t>MARTA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1">
                <a:solidFill>
                  <a:srgbClr val="6E8CB8"/>
                </a:solidFill>
                <a:latin typeface="Cambria"/>
              </a:rPr>
              <a:t>A decoupled multi-agent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14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1">
                <a:solidFill>
                  <a:srgbClr val="6E8CB8"/>
                </a:solidFill>
                <a:latin typeface="Cambria"/>
              </a:rPr>
              <a:t>for Python test generation.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6ECF5"/>
                </a:solidFill>
                <a:latin typeface="Calibri"/>
              </a:rPr>
              <a:t>Mário João Gomes Ribeiro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8CB8"/>
                </a:solidFill>
                <a:latin typeface="Calibri"/>
              </a:rPr>
              <a:t>Theoretical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6B5C"/>
                </a:solidFill>
                <a:latin typeface="Calibri"/>
              </a:rPr>
              <a:t>THE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20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C6B7A"/>
                </a:solidFill>
                <a:latin typeface="Calibri"/>
              </a:rPr>
              <a:t>02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41B2C"/>
                </a:solidFill>
                <a:latin typeface="Cambria"/>
              </a:rPr>
              <a:t>Tests are the unglamorous half of shipping software.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5C6B7A"/>
                </a:solidFill>
                <a:latin typeface="Cambria"/>
              </a:rPr>
              <a:t>Naturally, we'd love an LLM to do it for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6587" y="3383280"/>
            <a:ext cx="352044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347" y="3749040"/>
            <a:ext cx="201168" cy="201168"/>
          </a:xfrm>
          <a:prstGeom prst="rect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2347" y="406908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41B2C"/>
                </a:solidFill>
                <a:latin typeface="Cambria"/>
              </a:rPr>
              <a:t>Tedious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347" y="4663440"/>
            <a:ext cx="2788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C6B7A"/>
                </a:solidFill>
                <a:latin typeface="Calibri"/>
              </a:rPr>
              <a:t>Long, repetitive, low-creativity.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C6B7A"/>
                </a:solidFill>
                <a:latin typeface="Calibri"/>
              </a:rPr>
              <a:t>Exactly what LLMs should excel 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5627" y="3383280"/>
            <a:ext cx="352044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01387" y="3749040"/>
            <a:ext cx="201168" cy="201168"/>
          </a:xfrm>
          <a:prstGeom prst="rect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1387" y="406908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41B2C"/>
                </a:solidFill>
                <a:latin typeface="Cambria"/>
              </a:rPr>
              <a:t>High-volume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1387" y="4663440"/>
            <a:ext cx="2788920" cy="1138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 dirty="0">
                <a:solidFill>
                  <a:srgbClr val="5C6B7A"/>
                </a:solidFill>
                <a:latin typeface="Calibri"/>
              </a:rPr>
              <a:t>Coverage matters. </a:t>
            </a:r>
            <a:endParaRPr lang="pt-PT" sz="1400" b="0" i="0" dirty="0">
              <a:solidFill>
                <a:srgbClr val="5C6B7A"/>
              </a:solidFill>
              <a:latin typeface="Calibri"/>
            </a:endParaRPr>
          </a:p>
          <a:p>
            <a:pPr algn="l">
              <a:lnSpc>
                <a:spcPct val="135000"/>
              </a:lnSpc>
            </a:pPr>
            <a:r>
              <a:rPr sz="1400" b="0" i="0" dirty="0">
                <a:solidFill>
                  <a:srgbClr val="5C6B7A"/>
                </a:solidFill>
                <a:latin typeface="Calibri"/>
              </a:rPr>
              <a:t>Edge cases multiply.</a:t>
            </a:r>
          </a:p>
          <a:p>
            <a:pPr algn="l">
              <a:lnSpc>
                <a:spcPct val="135000"/>
              </a:lnSpc>
            </a:pPr>
            <a:r>
              <a:rPr sz="1400" b="0" i="0" dirty="0">
                <a:solidFill>
                  <a:srgbClr val="5C6B7A"/>
                </a:solidFill>
                <a:latin typeface="Calibri"/>
              </a:rPr>
              <a:t>Humans cut corners</a:t>
            </a:r>
            <a:r>
              <a:rPr lang="pt-PT" sz="1400" dirty="0">
                <a:solidFill>
                  <a:srgbClr val="5C6B7A"/>
                </a:solidFill>
                <a:latin typeface="Calibri"/>
              </a:rPr>
              <a:t>, </a:t>
            </a:r>
            <a:r>
              <a:rPr sz="1400" b="0" i="0" dirty="0">
                <a:solidFill>
                  <a:srgbClr val="5C6B7A"/>
                </a:solidFill>
                <a:latin typeface="Calibri"/>
              </a:rPr>
              <a:t>models don't tire.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4667" y="3383280"/>
            <a:ext cx="352044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0427" y="3749040"/>
            <a:ext cx="201168" cy="201168"/>
          </a:xfrm>
          <a:prstGeom prst="rect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0427" y="406908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41B2C"/>
                </a:solidFill>
                <a:latin typeface="Cambria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427" y="4663440"/>
            <a:ext cx="2788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C6B7A"/>
                </a:solidFill>
                <a:latin typeface="Calibri"/>
              </a:rPr>
              <a:t>A weak suite gives false confidence.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C6B7A"/>
                </a:solidFill>
                <a:latin typeface="Calibri"/>
              </a:rPr>
              <a:t>So the bar is real, not just throughput.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6B5C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20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C6B7A"/>
                </a:solidFill>
                <a:latin typeface="Calibri"/>
              </a:rPr>
              <a:t>03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41B2C"/>
                </a:solidFill>
                <a:latin typeface="Cambria"/>
              </a:rPr>
              <a:t>Python doesn't make it easy.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943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1">
                <a:solidFill>
                  <a:srgbClr val="0D1B3D"/>
                </a:solidFill>
                <a:latin typeface="Cambria"/>
              </a:rPr>
              <a:t>“What type is this variable?”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5943600" cy="356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pt-PT" sz="2200" i="1" dirty="0">
                <a:solidFill>
                  <a:srgbClr val="E06B5C"/>
                </a:solidFill>
                <a:latin typeface="Cambria"/>
              </a:rPr>
              <a:t>-</a:t>
            </a:r>
            <a:r>
              <a:rPr sz="2200" b="0" i="1" dirty="0">
                <a:solidFill>
                  <a:srgbClr val="E06B5C"/>
                </a:solidFill>
                <a:latin typeface="Cambria"/>
              </a:rPr>
              <a:t> Run the code and find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943600" cy="16406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 dirty="0">
                <a:solidFill>
                  <a:srgbClr val="141B2C"/>
                </a:solidFill>
                <a:latin typeface="Calibri"/>
              </a:rPr>
              <a:t>No static types at write-time. To write a test, the LLM has to guess what objects look like </a:t>
            </a:r>
            <a:r>
              <a:rPr lang="pt-PT" sz="1500" b="0" i="0" dirty="0">
                <a:solidFill>
                  <a:srgbClr val="141B2C"/>
                </a:solidFill>
                <a:latin typeface="Calibri"/>
              </a:rPr>
              <a:t>(</a:t>
            </a:r>
            <a:r>
              <a:rPr sz="1500" b="0" i="0" dirty="0">
                <a:solidFill>
                  <a:srgbClr val="141B2C"/>
                </a:solidFill>
                <a:latin typeface="Calibri"/>
              </a:rPr>
              <a:t>their methods, their attributes, the exceptions they raise</a:t>
            </a:r>
            <a:r>
              <a:rPr lang="pt-PT" sz="1500" b="0" i="0" dirty="0">
                <a:solidFill>
                  <a:srgbClr val="141B2C"/>
                </a:solidFill>
                <a:latin typeface="Calibri"/>
              </a:rPr>
              <a:t>)</a:t>
            </a:r>
            <a:r>
              <a:rPr sz="1500" b="0" i="0" dirty="0">
                <a:solidFill>
                  <a:srgbClr val="141B2C"/>
                </a:solidFill>
                <a:latin typeface="Calibri"/>
              </a:rPr>
              <a:t>.</a:t>
            </a:r>
          </a:p>
          <a:p>
            <a:pPr algn="l">
              <a:lnSpc>
                <a:spcPct val="145000"/>
              </a:lnSpc>
            </a:pPr>
            <a:endParaRPr sz="1500" b="0" i="0" dirty="0">
              <a:solidFill>
                <a:srgbClr val="141B2C"/>
              </a:solidFill>
              <a:latin typeface="Calibri"/>
            </a:endParaRPr>
          </a:p>
          <a:p>
            <a:pPr algn="l">
              <a:lnSpc>
                <a:spcPct val="145000"/>
              </a:lnSpc>
            </a:pPr>
            <a:r>
              <a:rPr sz="1500" b="0" i="0" dirty="0">
                <a:solidFill>
                  <a:srgbClr val="141B2C"/>
                </a:solidFill>
                <a:latin typeface="Calibri"/>
              </a:rPr>
              <a:t>Guess wrong → hallucinated calls, broken imports, asserts on attributes that don't exist.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011680"/>
            <a:ext cx="438912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224028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C6B7A"/>
                </a:solidFill>
                <a:latin typeface="Calibri"/>
              </a:rPr>
              <a:t>WHAT THE LLM SEES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65176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D1B3D"/>
                </a:solidFill>
                <a:latin typeface="Calibri"/>
              </a:rPr>
              <a:t>Statically-typed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017520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41B2C"/>
                </a:solidFill>
                <a:latin typeface="Consolas"/>
              </a:rPr>
              <a:t>public void send(User u, Message 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42900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C6B7A"/>
                </a:solidFill>
                <a:latin typeface="Calibri"/>
              </a:rPr>
              <a:t>Types pin down the shape of the world.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4069080"/>
            <a:ext cx="3749040" cy="18288"/>
          </a:xfrm>
          <a:prstGeom prst="rect">
            <a:avLst/>
          </a:prstGeom>
          <a:solidFill>
            <a:srgbClr val="E6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425196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06B5C"/>
                </a:solidFill>
                <a:latin typeface="Calibri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617720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41B2C"/>
                </a:solidFill>
                <a:latin typeface="Consolas"/>
              </a:rPr>
              <a:t>def send(u, m):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5029200"/>
            <a:ext cx="37490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5C6B7A"/>
                </a:solidFill>
                <a:latin typeface="Calibri"/>
              </a:rPr>
              <a:t>u and m are… whatever the caller passes.</a:t>
            </a:r>
          </a:p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5C6B7A"/>
                </a:solidFill>
                <a:latin typeface="Calibri"/>
              </a:rPr>
              <a:t>Could be a User, a dict, a Mock, a string.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dirty="0">
                <a:solidFill>
                  <a:srgbClr val="E06B5C"/>
                </a:solidFill>
                <a:latin typeface="Calibri"/>
              </a:rPr>
              <a:t>THE NA</a:t>
            </a:r>
            <a:r>
              <a:rPr lang="pt-PT" sz="1100" b="1" dirty="0">
                <a:solidFill>
                  <a:srgbClr val="E06B5C"/>
                </a:solidFill>
                <a:latin typeface="Calibri"/>
              </a:rPr>
              <a:t>I</a:t>
            </a:r>
            <a:r>
              <a:rPr sz="1100" b="1" i="0" dirty="0">
                <a:solidFill>
                  <a:srgbClr val="E06B5C"/>
                </a:solidFill>
                <a:latin typeface="Calibri"/>
              </a:rPr>
              <a:t>VE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20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C6B7A"/>
                </a:solidFill>
                <a:latin typeface="Calibri"/>
              </a:rPr>
              <a:t>04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41B2C"/>
                </a:solidFill>
                <a:latin typeface="Cambria"/>
              </a:rPr>
              <a:t>One LLM. One giant prompt. Everything at once.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1E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798064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ECF5"/>
                </a:solidFill>
                <a:latin typeface="Calibri"/>
              </a:rPr>
              <a:t>Source</a:t>
            </a:r>
          </a:p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ECF5"/>
                </a:solidFill>
                <a:latin typeface="Calibri"/>
              </a:rPr>
              <a:t>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4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1E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895344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ECF5"/>
                </a:solidFill>
                <a:latin typeface="Calibri"/>
              </a:rPr>
              <a:t>Context</a:t>
            </a:r>
          </a:p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ECF5"/>
                </a:solidFill>
                <a:latin typeface="Calibri"/>
              </a:rPr>
              <a:t>(types, docs)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88036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32461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BIG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7033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one shot, all roles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03120" y="3108960"/>
            <a:ext cx="640080" cy="228600"/>
          </a:xfrm>
          <a:prstGeom prst="line">
            <a:avLst/>
          </a:prstGeom>
          <a:ln w="25400">
            <a:solidFill>
              <a:srgbClr val="6E8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103120" y="3794760"/>
            <a:ext cx="640080" cy="411480"/>
          </a:xfrm>
          <a:prstGeom prst="line">
            <a:avLst/>
          </a:prstGeom>
          <a:ln w="25400">
            <a:solidFill>
              <a:srgbClr val="6E8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983480" y="315468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83480" y="3383280"/>
            <a:ext cx="1280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6ECF5"/>
                </a:solidFill>
                <a:latin typeface="Calibri"/>
              </a:rPr>
              <a:t>Tests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0" y="3566160"/>
            <a:ext cx="411480" cy="45720"/>
          </a:xfrm>
          <a:prstGeom prst="line">
            <a:avLst/>
          </a:prstGeom>
          <a:ln w="25400">
            <a:solidFill>
              <a:srgbClr val="6E8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32320" y="21031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C6B7A"/>
                </a:solidFill>
                <a:latin typeface="Calibri"/>
              </a:rPr>
              <a:t>FAILURE MODES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0" y="2770632"/>
            <a:ext cx="164592" cy="164592"/>
          </a:xfrm>
          <a:prstGeom prst="ellipse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52360" y="26060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B2C"/>
                </a:solidFill>
                <a:latin typeface="Calibri"/>
              </a:rPr>
              <a:t>Hallucination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990088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C6B7A"/>
                </a:solidFill>
                <a:latin typeface="Calibri"/>
              </a:rPr>
              <a:t>calls a method the class doesn't have</a:t>
            </a:r>
          </a:p>
        </p:txBody>
      </p:sp>
      <p:sp>
        <p:nvSpPr>
          <p:cNvPr id="22" name="Oval 21"/>
          <p:cNvSpPr/>
          <p:nvPr/>
        </p:nvSpPr>
        <p:spPr>
          <a:xfrm>
            <a:off x="7132320" y="3822192"/>
            <a:ext cx="164592" cy="164592"/>
          </a:xfrm>
          <a:prstGeom prst="ellipse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52360" y="36576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B2C"/>
                </a:solidFill>
                <a:latin typeface="Calibri"/>
              </a:rPr>
              <a:t>Stub-asserts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041648"/>
            <a:ext cx="4114800" cy="216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 dirty="0">
                <a:solidFill>
                  <a:srgbClr val="5C6B7A"/>
                </a:solidFill>
                <a:latin typeface="Calibri"/>
              </a:rPr>
              <a:t>the test passes  because it asserts nothing</a:t>
            </a:r>
          </a:p>
        </p:txBody>
      </p:sp>
      <p:sp>
        <p:nvSpPr>
          <p:cNvPr id="25" name="Oval 24"/>
          <p:cNvSpPr/>
          <p:nvPr/>
        </p:nvSpPr>
        <p:spPr>
          <a:xfrm>
            <a:off x="7132320" y="4873752"/>
            <a:ext cx="164592" cy="164592"/>
          </a:xfrm>
          <a:prstGeom prst="ellipse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52360" y="47091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B2C"/>
                </a:solidFill>
                <a:latin typeface="Calibri"/>
              </a:rPr>
              <a:t>Invalid syntax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5093208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 dirty="0">
                <a:solidFill>
                  <a:srgbClr val="5C6B7A"/>
                </a:solidFill>
                <a:latin typeface="Calibri"/>
              </a:rPr>
              <a:t>import fails before any assertion runs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 dirty="0">
                <a:solidFill>
                  <a:srgbClr val="0D1B3D"/>
                </a:solidFill>
                <a:latin typeface="Cambria"/>
              </a:rPr>
              <a:t>Cognitive overload: one mind, too many concerns.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228600" cy="228600"/>
          </a:xfrm>
          <a:prstGeom prst="rect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6B5C"/>
                </a:solidFill>
                <a:latin typeface="Calibri"/>
              </a:rPr>
              <a:t>THE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6ECF5"/>
                </a:solidFill>
                <a:latin typeface="Calibri"/>
              </a:rPr>
              <a:t>05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E6ECF5"/>
                </a:solidFill>
                <a:latin typeface="Cambria"/>
              </a:rPr>
              <a:t>Specialise. Like a real engineering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6E8CB8"/>
                </a:solidFill>
                <a:latin typeface="Cambria"/>
              </a:rPr>
              <a:t>Three roles, each with a smaller job and less rope to hang itself with.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6587" y="3474720"/>
            <a:ext cx="3520440" cy="2926080"/>
          </a:xfrm>
          <a:prstGeom prst="rect">
            <a:avLst/>
          </a:prstGeom>
          <a:solidFill>
            <a:srgbClr val="1E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2347" y="37947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06B5C"/>
                </a:solidFill>
                <a:latin typeface="Cambr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347" y="4297680"/>
            <a:ext cx="2788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6ECF5"/>
                </a:solidFill>
                <a:latin typeface="Cambria"/>
              </a:rPr>
              <a:t>The Planner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347" y="4983480"/>
            <a:ext cx="2788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E8CB8"/>
                </a:solidFill>
                <a:latin typeface="Calibri"/>
              </a:rPr>
              <a:t>Reads the code's intent.</a:t>
            </a:r>
          </a:p>
          <a:p>
            <a:pPr algn="l">
              <a:lnSpc>
                <a:spcPct val="140000"/>
              </a:lnSpc>
            </a:pPr>
            <a:endParaRPr sz="1400" b="0" i="0">
              <a:solidFill>
                <a:srgbClr val="6E8CB8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E8CB8"/>
                </a:solidFill>
                <a:latin typeface="Calibri"/>
              </a:rPr>
              <a:t>Decides WHAT to test: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E8CB8"/>
                </a:solidFill>
                <a:latin typeface="Calibri"/>
              </a:rPr>
              <a:t>happy paths, edges, errors.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5627" y="3474720"/>
            <a:ext cx="3520440" cy="2926080"/>
          </a:xfrm>
          <a:prstGeom prst="rect">
            <a:avLst/>
          </a:prstGeom>
          <a:solidFill>
            <a:srgbClr val="1E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1387" y="37947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06B5C"/>
                </a:solidFill>
                <a:latin typeface="Cambr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1387" y="4297680"/>
            <a:ext cx="2788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6ECF5"/>
                </a:solidFill>
                <a:latin typeface="Cambria"/>
              </a:rPr>
              <a:t>The 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1387" y="4983480"/>
            <a:ext cx="2788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E8CB8"/>
                </a:solidFill>
                <a:latin typeface="Calibri"/>
              </a:rPr>
              <a:t>Takes one scenario at a time.</a:t>
            </a:r>
          </a:p>
          <a:p>
            <a:pPr algn="l">
              <a:lnSpc>
                <a:spcPct val="140000"/>
              </a:lnSpc>
            </a:pPr>
            <a:endParaRPr sz="1400" b="0" i="0">
              <a:solidFill>
                <a:srgbClr val="6E8CB8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E8CB8"/>
                </a:solidFill>
                <a:latin typeface="Calibri"/>
              </a:rPr>
              <a:t>Writes HOW to test it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E8CB8"/>
                </a:solidFill>
                <a:latin typeface="Calibri"/>
              </a:rPr>
              <a:t>as plain pytest code.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4667" y="3474720"/>
            <a:ext cx="3520440" cy="2926080"/>
          </a:xfrm>
          <a:prstGeom prst="rect">
            <a:avLst/>
          </a:prstGeom>
          <a:solidFill>
            <a:srgbClr val="1E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0427" y="37947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06B5C"/>
                </a:solidFill>
                <a:latin typeface="Cambr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427" y="4297680"/>
            <a:ext cx="2788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6ECF5"/>
                </a:solidFill>
                <a:latin typeface="Cambria"/>
              </a:rPr>
              <a:t>The Loops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0427" y="4983480"/>
            <a:ext cx="2788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E8CB8"/>
                </a:solidFill>
                <a:latin typeface="Calibri"/>
              </a:rPr>
              <a:t>Runs the tests.</a:t>
            </a:r>
          </a:p>
          <a:p>
            <a:pPr algn="l">
              <a:lnSpc>
                <a:spcPct val="140000"/>
              </a:lnSpc>
            </a:pPr>
            <a:endParaRPr sz="1400" b="0" i="0">
              <a:solidFill>
                <a:srgbClr val="6E8CB8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E8CB8"/>
                </a:solidFill>
                <a:latin typeface="Calibri"/>
              </a:rPr>
              <a:t>Reads failures, rewrites.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E8CB8"/>
                </a:solidFill>
                <a:latin typeface="Calibri"/>
              </a:rPr>
              <a:t>Chases missing coverage.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6B5C"/>
                </a:solidFill>
                <a:latin typeface="Calibri"/>
              </a:rPr>
              <a:t>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20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C6B7A"/>
                </a:solidFill>
                <a:latin typeface="Calibri"/>
              </a:rPr>
              <a:t>06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41B2C"/>
                </a:solidFill>
                <a:latin typeface="Cambria"/>
              </a:rPr>
              <a:t>Two phases. One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5C6B7A"/>
                </a:solidFill>
                <a:latin typeface="Cambria"/>
              </a:rPr>
              <a:t>Build the right context first. Then let focused agents do the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5167" y="2743200"/>
            <a:ext cx="521208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5167" y="2743200"/>
            <a:ext cx="164592" cy="3108960"/>
          </a:xfrm>
          <a:prstGeom prst="rect">
            <a:avLst/>
          </a:prstGeom>
          <a:solidFill>
            <a:srgbClr val="0D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2367" y="30632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6B5C"/>
                </a:solidFill>
                <a:latin typeface="Calibr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2367" y="3429000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41B2C"/>
                </a:solidFill>
                <a:latin typeface="Cambria"/>
              </a:rPr>
              <a:t>Build the context</a:t>
            </a:r>
          </a:p>
        </p:txBody>
      </p:sp>
      <p:sp>
        <p:nvSpPr>
          <p:cNvPr id="11" name="Oval 10"/>
          <p:cNvSpPr/>
          <p:nvPr/>
        </p:nvSpPr>
        <p:spPr>
          <a:xfrm>
            <a:off x="1112367" y="4233672"/>
            <a:ext cx="109728" cy="109728"/>
          </a:xfrm>
          <a:prstGeom prst="ellipse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40967" y="4114800"/>
            <a:ext cx="4023360" cy="224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dirty="0" err="1">
                <a:solidFill>
                  <a:srgbClr val="141B2C"/>
                </a:solidFill>
                <a:latin typeface="Calibri"/>
              </a:rPr>
              <a:t>PyCG</a:t>
            </a:r>
            <a:r>
              <a:rPr sz="1300" b="1" i="0" dirty="0">
                <a:solidFill>
                  <a:srgbClr val="141B2C"/>
                </a:solidFill>
                <a:latin typeface="Calibri"/>
              </a:rPr>
              <a:t> + AST</a:t>
            </a:r>
            <a:r>
              <a:rPr sz="1300" b="0" i="1" dirty="0">
                <a:solidFill>
                  <a:srgbClr val="5C6B7A"/>
                </a:solidFill>
                <a:latin typeface="Calibri"/>
              </a:rPr>
              <a:t>  </a:t>
            </a:r>
            <a:r>
              <a:rPr lang="pt-PT" sz="1300" b="0" i="1" dirty="0">
                <a:solidFill>
                  <a:srgbClr val="5C6B7A"/>
                </a:solidFill>
                <a:latin typeface="Calibri"/>
              </a:rPr>
              <a:t>-</a:t>
            </a:r>
            <a:r>
              <a:rPr sz="1300" b="0" i="1" dirty="0">
                <a:solidFill>
                  <a:srgbClr val="5C6B7A"/>
                </a:solidFill>
                <a:latin typeface="Calibri"/>
              </a:rPr>
              <a:t>  static call graph and class structure</a:t>
            </a:r>
          </a:p>
        </p:txBody>
      </p:sp>
      <p:sp>
        <p:nvSpPr>
          <p:cNvPr id="13" name="Oval 12"/>
          <p:cNvSpPr/>
          <p:nvPr/>
        </p:nvSpPr>
        <p:spPr>
          <a:xfrm>
            <a:off x="1112367" y="4626864"/>
            <a:ext cx="109728" cy="109728"/>
          </a:xfrm>
          <a:prstGeom prst="ellipse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40967" y="4507992"/>
            <a:ext cx="4023360" cy="464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dirty="0">
                <a:solidFill>
                  <a:srgbClr val="141B2C"/>
                </a:solidFill>
                <a:latin typeface="Calibri"/>
              </a:rPr>
              <a:t>3-pass function analysis</a:t>
            </a:r>
            <a:r>
              <a:rPr sz="1300" b="0" i="1" dirty="0">
                <a:solidFill>
                  <a:srgbClr val="5C6B7A"/>
                </a:solidFill>
                <a:latin typeface="Calibri"/>
              </a:rPr>
              <a:t>  </a:t>
            </a:r>
            <a:r>
              <a:rPr lang="pt-PT" sz="1300" b="0" i="1" dirty="0">
                <a:solidFill>
                  <a:srgbClr val="5C6B7A"/>
                </a:solidFill>
                <a:latin typeface="Calibri"/>
              </a:rPr>
              <a:t>-</a:t>
            </a:r>
            <a:r>
              <a:rPr sz="1300" b="0" i="1" dirty="0">
                <a:solidFill>
                  <a:srgbClr val="5C6B7A"/>
                </a:solidFill>
                <a:latin typeface="Calibri"/>
              </a:rPr>
              <a:t>  what it does, what it should do, merged</a:t>
            </a:r>
          </a:p>
        </p:txBody>
      </p:sp>
      <p:sp>
        <p:nvSpPr>
          <p:cNvPr id="15" name="Oval 14"/>
          <p:cNvSpPr/>
          <p:nvPr/>
        </p:nvSpPr>
        <p:spPr>
          <a:xfrm>
            <a:off x="1112367" y="5020056"/>
            <a:ext cx="109728" cy="109728"/>
          </a:xfrm>
          <a:prstGeom prst="ellipse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40967" y="4901184"/>
            <a:ext cx="4023360" cy="224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dirty="0">
                <a:solidFill>
                  <a:srgbClr val="141B2C"/>
                </a:solidFill>
                <a:latin typeface="Calibri"/>
              </a:rPr>
              <a:t>Per-class summary</a:t>
            </a:r>
            <a:r>
              <a:rPr sz="1300" b="0" i="1" dirty="0">
                <a:solidFill>
                  <a:srgbClr val="5C6B7A"/>
                </a:solidFill>
                <a:latin typeface="Calibri"/>
              </a:rPr>
              <a:t>  </a:t>
            </a:r>
            <a:r>
              <a:rPr lang="pt-PT" sz="1300" b="0" i="1" dirty="0">
                <a:solidFill>
                  <a:srgbClr val="5C6B7A"/>
                </a:solidFill>
                <a:latin typeface="Calibri"/>
              </a:rPr>
              <a:t>-</a:t>
            </a:r>
            <a:r>
              <a:rPr sz="1300" b="0" i="1" dirty="0">
                <a:solidFill>
                  <a:srgbClr val="5C6B7A"/>
                </a:solidFill>
                <a:latin typeface="Calibri"/>
              </a:rPr>
              <a:t>  and a how-to-use guide for each class</a:t>
            </a:r>
          </a:p>
        </p:txBody>
      </p:sp>
      <p:sp>
        <p:nvSpPr>
          <p:cNvPr id="17" name="Oval 16"/>
          <p:cNvSpPr/>
          <p:nvPr/>
        </p:nvSpPr>
        <p:spPr>
          <a:xfrm>
            <a:off x="1112367" y="5413248"/>
            <a:ext cx="109728" cy="109728"/>
          </a:xfrm>
          <a:prstGeom prst="ellipse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40967" y="5294376"/>
            <a:ext cx="4023360" cy="464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dirty="0">
                <a:solidFill>
                  <a:srgbClr val="141B2C"/>
                </a:solidFill>
                <a:latin typeface="Calibri"/>
              </a:rPr>
              <a:t>Parameter type inference</a:t>
            </a:r>
            <a:r>
              <a:rPr sz="1300" b="0" i="1" dirty="0">
                <a:solidFill>
                  <a:srgbClr val="5C6B7A"/>
                </a:solidFill>
                <a:latin typeface="Calibri"/>
              </a:rPr>
              <a:t>  </a:t>
            </a:r>
            <a:r>
              <a:rPr lang="pt-PT" sz="1300" b="0" i="1" dirty="0">
                <a:solidFill>
                  <a:srgbClr val="5C6B7A"/>
                </a:solidFill>
                <a:latin typeface="Calibri"/>
              </a:rPr>
              <a:t>-</a:t>
            </a:r>
            <a:r>
              <a:rPr sz="1300" b="0" i="1" dirty="0">
                <a:solidFill>
                  <a:srgbClr val="5C6B7A"/>
                </a:solidFill>
                <a:latin typeface="Calibri"/>
              </a:rPr>
              <a:t>  syntactic filter + semantic RAG (Chroma)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4447" y="2743200"/>
            <a:ext cx="521208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24447" y="2743200"/>
            <a:ext cx="164592" cy="3108960"/>
          </a:xfrm>
          <a:prstGeom prst="rect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1647" y="30632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6B5C"/>
                </a:solidFill>
                <a:latin typeface="Calibri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1647" y="3429000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41B2C"/>
                </a:solidFill>
                <a:latin typeface="Cambria"/>
              </a:rPr>
              <a:t>Multi-agent ReAct</a:t>
            </a:r>
          </a:p>
        </p:txBody>
      </p:sp>
      <p:sp>
        <p:nvSpPr>
          <p:cNvPr id="23" name="Oval 22"/>
          <p:cNvSpPr/>
          <p:nvPr/>
        </p:nvSpPr>
        <p:spPr>
          <a:xfrm>
            <a:off x="6781647" y="4233672"/>
            <a:ext cx="109728" cy="109728"/>
          </a:xfrm>
          <a:prstGeom prst="ellipse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10247" y="4114800"/>
            <a:ext cx="4023360" cy="464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dirty="0">
                <a:solidFill>
                  <a:srgbClr val="141B2C"/>
                </a:solidFill>
                <a:latin typeface="Calibri"/>
              </a:rPr>
              <a:t>Planner agent</a:t>
            </a:r>
            <a:r>
              <a:rPr sz="1300" b="0" i="1" dirty="0">
                <a:solidFill>
                  <a:srgbClr val="5C6B7A"/>
                </a:solidFill>
                <a:latin typeface="Calibri"/>
              </a:rPr>
              <a:t>  </a:t>
            </a:r>
            <a:r>
              <a:rPr lang="pt-PT" sz="1300" b="0" i="1" dirty="0">
                <a:solidFill>
                  <a:srgbClr val="5C6B7A"/>
                </a:solidFill>
                <a:latin typeface="Calibri"/>
              </a:rPr>
              <a:t>-</a:t>
            </a:r>
            <a:r>
              <a:rPr sz="1300" b="0" i="1" dirty="0">
                <a:solidFill>
                  <a:srgbClr val="5C6B7A"/>
                </a:solidFill>
                <a:latin typeface="Calibri"/>
              </a:rPr>
              <a:t>  3-scenario plan + RAG-fetched related functions</a:t>
            </a:r>
          </a:p>
        </p:txBody>
      </p:sp>
      <p:sp>
        <p:nvSpPr>
          <p:cNvPr id="25" name="Oval 24"/>
          <p:cNvSpPr/>
          <p:nvPr/>
        </p:nvSpPr>
        <p:spPr>
          <a:xfrm>
            <a:off x="6781647" y="4626864"/>
            <a:ext cx="109728" cy="109728"/>
          </a:xfrm>
          <a:prstGeom prst="ellipse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10247" y="4507992"/>
            <a:ext cx="4023360" cy="224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dirty="0">
                <a:solidFill>
                  <a:srgbClr val="141B2C"/>
                </a:solidFill>
                <a:latin typeface="Calibri"/>
              </a:rPr>
              <a:t>Assertion agent</a:t>
            </a:r>
            <a:r>
              <a:rPr sz="1300" b="0" i="1" dirty="0">
                <a:solidFill>
                  <a:srgbClr val="5C6B7A"/>
                </a:solidFill>
                <a:latin typeface="Calibri"/>
              </a:rPr>
              <a:t>  </a:t>
            </a:r>
            <a:r>
              <a:rPr lang="pt-PT" sz="1300" b="0" i="1" dirty="0">
                <a:solidFill>
                  <a:srgbClr val="5C6B7A"/>
                </a:solidFill>
                <a:latin typeface="Calibri"/>
              </a:rPr>
              <a:t>-</a:t>
            </a:r>
            <a:r>
              <a:rPr sz="1300" b="0" i="1" dirty="0">
                <a:solidFill>
                  <a:srgbClr val="5C6B7A"/>
                </a:solidFill>
                <a:latin typeface="Calibri"/>
              </a:rPr>
              <a:t>  one </a:t>
            </a:r>
            <a:r>
              <a:rPr sz="1300" b="0" i="1" dirty="0" err="1">
                <a:solidFill>
                  <a:srgbClr val="5C6B7A"/>
                </a:solidFill>
                <a:latin typeface="Calibri"/>
              </a:rPr>
              <a:t>pytest</a:t>
            </a:r>
            <a:r>
              <a:rPr sz="1300" b="0" i="1" dirty="0">
                <a:solidFill>
                  <a:srgbClr val="5C6B7A"/>
                </a:solidFill>
                <a:latin typeface="Calibri"/>
              </a:rPr>
              <a:t> function per scenario, isolated</a:t>
            </a:r>
          </a:p>
        </p:txBody>
      </p:sp>
      <p:sp>
        <p:nvSpPr>
          <p:cNvPr id="27" name="Oval 26"/>
          <p:cNvSpPr/>
          <p:nvPr/>
        </p:nvSpPr>
        <p:spPr>
          <a:xfrm>
            <a:off x="6781647" y="5020056"/>
            <a:ext cx="109728" cy="109728"/>
          </a:xfrm>
          <a:prstGeom prst="ellipse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10247" y="4901184"/>
            <a:ext cx="4023360" cy="224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dirty="0">
                <a:solidFill>
                  <a:srgbClr val="141B2C"/>
                </a:solidFill>
                <a:latin typeface="Calibri"/>
              </a:rPr>
              <a:t>Inner loop</a:t>
            </a:r>
            <a:r>
              <a:rPr sz="1300" b="0" i="1" dirty="0">
                <a:solidFill>
                  <a:srgbClr val="5C6B7A"/>
                </a:solidFill>
                <a:latin typeface="Calibri"/>
              </a:rPr>
              <a:t>    </a:t>
            </a:r>
            <a:r>
              <a:rPr sz="1300" b="0" i="1" dirty="0" err="1">
                <a:solidFill>
                  <a:srgbClr val="5C6B7A"/>
                </a:solidFill>
                <a:latin typeface="Calibri"/>
              </a:rPr>
              <a:t>Pylint</a:t>
            </a:r>
            <a:r>
              <a:rPr sz="1300" b="0" i="1" dirty="0">
                <a:solidFill>
                  <a:srgbClr val="5C6B7A"/>
                </a:solidFill>
                <a:latin typeface="Calibri"/>
              </a:rPr>
              <a:t> → </a:t>
            </a:r>
            <a:r>
              <a:rPr sz="1300" b="0" i="1" dirty="0" err="1">
                <a:solidFill>
                  <a:srgbClr val="5C6B7A"/>
                </a:solidFill>
                <a:latin typeface="Calibri"/>
              </a:rPr>
              <a:t>Pytest</a:t>
            </a:r>
            <a:r>
              <a:rPr sz="1300" b="0" i="1" dirty="0">
                <a:solidFill>
                  <a:srgbClr val="5C6B7A"/>
                </a:solidFill>
                <a:latin typeface="Calibri"/>
              </a:rPr>
              <a:t>, RAG-assisted retries</a:t>
            </a:r>
          </a:p>
        </p:txBody>
      </p:sp>
      <p:sp>
        <p:nvSpPr>
          <p:cNvPr id="29" name="Oval 28"/>
          <p:cNvSpPr/>
          <p:nvPr/>
        </p:nvSpPr>
        <p:spPr>
          <a:xfrm>
            <a:off x="6781647" y="5413248"/>
            <a:ext cx="109728" cy="109728"/>
          </a:xfrm>
          <a:prstGeom prst="ellipse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10247" y="5294376"/>
            <a:ext cx="4023360" cy="464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dirty="0">
                <a:solidFill>
                  <a:srgbClr val="141B2C"/>
                </a:solidFill>
                <a:latin typeface="Calibri"/>
              </a:rPr>
              <a:t>Outer loop</a:t>
            </a:r>
            <a:r>
              <a:rPr sz="1300" b="0" i="1" dirty="0">
                <a:solidFill>
                  <a:srgbClr val="5C6B7A"/>
                </a:solidFill>
                <a:latin typeface="Calibri"/>
              </a:rPr>
              <a:t>  </a:t>
            </a:r>
            <a:r>
              <a:rPr lang="pt-PT" sz="1300" b="0" i="1" dirty="0">
                <a:solidFill>
                  <a:srgbClr val="5C6B7A"/>
                </a:solidFill>
                <a:latin typeface="Calibri"/>
              </a:rPr>
              <a:t>-</a:t>
            </a:r>
            <a:r>
              <a:rPr sz="1300" b="0" i="1" dirty="0">
                <a:solidFill>
                  <a:srgbClr val="5C6B7A"/>
                </a:solidFill>
                <a:latin typeface="Calibri"/>
              </a:rPr>
              <a:t>  N rounds, replays Planner with coverage feedback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867247" y="4297680"/>
            <a:ext cx="457200" cy="0"/>
          </a:xfrm>
          <a:prstGeom prst="line">
            <a:avLst/>
          </a:prstGeom>
          <a:ln w="38100">
            <a:solidFill>
              <a:srgbClr val="0D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12967" y="38862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5C6B7A"/>
                </a:solidFill>
                <a:latin typeface="Calibri"/>
              </a:rPr>
              <a:t>feeds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6B5C"/>
                </a:solidFill>
                <a:latin typeface="Calibri"/>
              </a:rPr>
              <a:t>PHASE 1 — 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20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C6B7A"/>
                </a:solidFill>
                <a:latin typeface="Calibri"/>
              </a:rPr>
              <a:t>07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41B2C"/>
                </a:solidFill>
                <a:latin typeface="Cambria"/>
              </a:rPr>
              <a:t>PyCG turns code into a graph the LLM can travel.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291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 dirty="0">
                <a:solidFill>
                  <a:srgbClr val="5C6B7A"/>
                </a:solidFill>
                <a:latin typeface="Cambria"/>
              </a:rPr>
              <a:t>Summaries are built bottom-up </a:t>
            </a:r>
            <a:r>
              <a:rPr lang="pt-PT" sz="1800" b="0" i="1" dirty="0">
                <a:solidFill>
                  <a:srgbClr val="5C6B7A"/>
                </a:solidFill>
                <a:latin typeface="Cambria"/>
              </a:rPr>
              <a:t>-</a:t>
            </a:r>
            <a:r>
              <a:rPr sz="1800" b="0" i="1" dirty="0">
                <a:solidFill>
                  <a:srgbClr val="5C6B7A"/>
                </a:solidFill>
                <a:latin typeface="Cambria"/>
              </a:rPr>
              <a:t> the model sees what every callee does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530352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377440" y="3154680"/>
            <a:ext cx="1828800" cy="59436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77440" y="3273552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6ECF5"/>
                </a:solidFill>
                <a:latin typeface="Consolas"/>
              </a:rPr>
              <a:t>process_user()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572000"/>
            <a:ext cx="1828800" cy="594360"/>
          </a:xfrm>
          <a:prstGeom prst="roundRect">
            <a:avLst>
              <a:gd name="adj" fmla="val 6000"/>
            </a:avLst>
          </a:prstGeom>
          <a:solidFill>
            <a:srgbClr val="1E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690872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6ECF5"/>
                </a:solidFill>
                <a:latin typeface="Consolas"/>
              </a:rPr>
              <a:t>validate_email()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40" y="4572000"/>
            <a:ext cx="1828800" cy="594360"/>
          </a:xfrm>
          <a:prstGeom prst="roundRect">
            <a:avLst>
              <a:gd name="adj" fmla="val 6000"/>
            </a:avLst>
          </a:prstGeom>
          <a:solidFill>
            <a:srgbClr val="1E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40" y="4690872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6ECF5"/>
                </a:solidFill>
                <a:latin typeface="Consolas"/>
              </a:rPr>
              <a:t>send_email()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920240" y="3749040"/>
            <a:ext cx="914400" cy="822960"/>
          </a:xfrm>
          <a:prstGeom prst="line">
            <a:avLst/>
          </a:prstGeom>
          <a:ln w="25400">
            <a:solidFill>
              <a:srgbClr val="6E8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749040" y="3749040"/>
            <a:ext cx="914400" cy="822960"/>
          </a:xfrm>
          <a:prstGeom prst="line">
            <a:avLst/>
          </a:prstGeom>
          <a:ln w="25400">
            <a:solidFill>
              <a:srgbClr val="6E8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8404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5C6B7A"/>
                </a:solidFill>
                <a:latin typeface="Calibri"/>
              </a:rPr>
              <a:t>calls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141B2C"/>
                </a:solidFill>
                <a:latin typeface="Calibri"/>
              </a:rPr>
              <a:t>Summary of process_user is built knowing what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607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141B2C"/>
                </a:solidFill>
                <a:latin typeface="Calibri"/>
              </a:rPr>
              <a:t>validate_email and send_email actually do.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743200"/>
            <a:ext cx="512064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2743200"/>
            <a:ext cx="73152" cy="1051560"/>
          </a:xfrm>
          <a:prstGeom prst="rect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90779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2C"/>
                </a:solidFill>
                <a:latin typeface="Calibri"/>
              </a:rPr>
              <a:t>Recursive function summaries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246120"/>
            <a:ext cx="4663440" cy="476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 dirty="0">
                <a:solidFill>
                  <a:srgbClr val="5C6B7A"/>
                </a:solidFill>
                <a:latin typeface="Calibri"/>
              </a:rPr>
              <a:t>Each function's docstring is grounded in summaries of its callees </a:t>
            </a:r>
            <a:r>
              <a:rPr lang="pt-PT" sz="1200" b="0" i="0" dirty="0">
                <a:solidFill>
                  <a:srgbClr val="5C6B7A"/>
                </a:solidFill>
                <a:latin typeface="Calibri"/>
              </a:rPr>
              <a:t>-</a:t>
            </a:r>
            <a:r>
              <a:rPr sz="1200" b="0" i="0" dirty="0">
                <a:solidFill>
                  <a:srgbClr val="5C6B7A"/>
                </a:solidFill>
                <a:latin typeface="Calibri"/>
              </a:rPr>
              <a:t> not just its own source.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959352"/>
            <a:ext cx="512064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3959352"/>
            <a:ext cx="73152" cy="1051560"/>
          </a:xfrm>
          <a:prstGeom prst="rect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412394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2C"/>
                </a:solidFill>
                <a:latin typeface="Calibri"/>
              </a:rPr>
              <a:t>Inherited members resolved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462272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C6B7A"/>
                </a:solidFill>
                <a:latin typeface="Calibri"/>
              </a:rPr>
              <a:t>Class MRO is walked, so a subclass with inherited methods looks complete to type inference.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5175504"/>
            <a:ext cx="512064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0" y="5175504"/>
            <a:ext cx="73152" cy="1051560"/>
          </a:xfrm>
          <a:prstGeom prst="rect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5340096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dirty="0">
                <a:solidFill>
                  <a:srgbClr val="141B2C"/>
                </a:solidFill>
                <a:latin typeface="Calibri"/>
              </a:rPr>
              <a:t>Import-aware RAG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678424"/>
            <a:ext cx="4663440" cy="476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 dirty="0">
                <a:solidFill>
                  <a:srgbClr val="5C6B7A"/>
                </a:solidFill>
                <a:latin typeface="Calibri"/>
              </a:rPr>
              <a:t>Only classes reachable from this file become retrieval candidates </a:t>
            </a:r>
            <a:r>
              <a:rPr lang="pt-PT" sz="1200" b="0" i="0" dirty="0">
                <a:solidFill>
                  <a:srgbClr val="5C6B7A"/>
                </a:solidFill>
                <a:latin typeface="Calibri"/>
              </a:rPr>
              <a:t>-</a:t>
            </a:r>
            <a:r>
              <a:rPr sz="1200" b="0" i="0" dirty="0">
                <a:solidFill>
                  <a:srgbClr val="5C6B7A"/>
                </a:solidFill>
                <a:latin typeface="Calibri"/>
              </a:rPr>
              <a:t> not the whole project.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00800"/>
            <a:ext cx="109728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 dirty="0" err="1">
                <a:solidFill>
                  <a:srgbClr val="5C6B7A"/>
                </a:solidFill>
                <a:latin typeface="Calibri"/>
              </a:rPr>
              <a:t>PyCG</a:t>
            </a:r>
            <a:r>
              <a:rPr sz="1000" b="0" i="1" dirty="0">
                <a:solidFill>
                  <a:srgbClr val="5C6B7A"/>
                </a:solidFill>
                <a:latin typeface="Calibri"/>
              </a:rPr>
              <a:t>: Salis et al., 2020 (Apache 2.0) </a:t>
            </a:r>
            <a:r>
              <a:rPr lang="pt-PT" sz="1000" b="0" i="1" dirty="0">
                <a:solidFill>
                  <a:srgbClr val="5C6B7A"/>
                </a:solidFill>
                <a:latin typeface="Calibri"/>
              </a:rPr>
              <a:t>-</a:t>
            </a:r>
            <a:r>
              <a:rPr sz="1000" b="0" i="1" dirty="0">
                <a:solidFill>
                  <a:srgbClr val="5C6B7A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C6B7A"/>
                </a:solidFill>
                <a:latin typeface="Calibri"/>
              </a:rPr>
              <a:t>vendored</a:t>
            </a:r>
            <a:r>
              <a:rPr sz="1000" b="0" i="1" dirty="0">
                <a:solidFill>
                  <a:srgbClr val="5C6B7A"/>
                </a:solidFill>
                <a:latin typeface="Calibri"/>
              </a:rPr>
              <a:t> static-analysis library.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6B5C"/>
                </a:solidFill>
                <a:latin typeface="Calibri"/>
              </a:rPr>
              <a:t>PHASE 2 — THE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20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C6B7A"/>
                </a:solidFill>
                <a:latin typeface="Calibri"/>
              </a:rPr>
              <a:t>08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41B2C"/>
                </a:solidFill>
                <a:latin typeface="Cambria"/>
              </a:rPr>
              <a:t>Two agents, two concerns.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" y="2103120"/>
            <a:ext cx="539496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3767" y="24688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6B5C"/>
                </a:solidFill>
                <a:latin typeface="Calibri"/>
              </a:rPr>
              <a:t>PLANNER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3767" y="283464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41B2C"/>
                </a:solidFill>
                <a:latin typeface="Cambria"/>
              </a:rPr>
              <a:t>What is worth testing?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767" y="352044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C6B7A"/>
                </a:solidFill>
                <a:latin typeface="Calibri"/>
              </a:rPr>
              <a:t>Reads the rich context. Thinks in scenarios.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3767" y="4160520"/>
            <a:ext cx="4572000" cy="45720"/>
          </a:xfrm>
          <a:prstGeom prst="rect">
            <a:avLst/>
          </a:prstGeom>
          <a:solidFill>
            <a:srgbClr val="E6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3767" y="42976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C6B7A"/>
                </a:solidFill>
                <a:latin typeface="Calibri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767" y="4572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C"/>
                </a:solidFill>
                <a:latin typeface="Consolas"/>
              </a:rPr>
              <a:t>source + summary + inferred types + missing 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767" y="4846320"/>
            <a:ext cx="4572000" cy="198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 dirty="0">
                <a:solidFill>
                  <a:srgbClr val="E06B5C"/>
                </a:solidFill>
                <a:latin typeface="Consolas"/>
              </a:rPr>
              <a:t>+ RAG:</a:t>
            </a:r>
            <a:r>
              <a:rPr lang="pt-PT" sz="1200" b="0" i="1" dirty="0">
                <a:solidFill>
                  <a:srgbClr val="E06B5C"/>
                </a:solidFill>
                <a:latin typeface="Consolas"/>
              </a:rPr>
              <a:t> </a:t>
            </a:r>
            <a:r>
              <a:rPr sz="1200" b="0" i="1" dirty="0">
                <a:solidFill>
                  <a:srgbClr val="E06B5C"/>
                </a:solidFill>
                <a:latin typeface="Consolas"/>
              </a:rPr>
              <a:t>related functions for scenario inspiration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767" y="5257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C6B7A"/>
                </a:solidFill>
                <a:latin typeface="Calibri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767" y="55321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141B2C"/>
                </a:solidFill>
                <a:latin typeface="Consolas"/>
              </a:rPr>
              <a:t>JSON: 3 scenarios — happy path, edges, errors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4447" y="2103120"/>
            <a:ext cx="539496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35927" y="24688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6B5C"/>
                </a:solidFill>
                <a:latin typeface="Calibri"/>
              </a:rPr>
              <a:t>ASSERTION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5927" y="283464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41B2C"/>
                </a:solidFill>
                <a:latin typeface="Cambria"/>
              </a:rPr>
              <a:t>How do I write that test?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5927" y="352044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C6B7A"/>
                </a:solidFill>
                <a:latin typeface="Calibri"/>
              </a:rPr>
              <a:t>Receives one scenario. Doesn't care about strategy.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35927" y="4160520"/>
            <a:ext cx="4572000" cy="45720"/>
          </a:xfrm>
          <a:prstGeom prst="rect">
            <a:avLst/>
          </a:prstGeom>
          <a:solidFill>
            <a:srgbClr val="E6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35927" y="42976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C6B7A"/>
                </a:solidFill>
                <a:latin typeface="Calibri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5927" y="4572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C"/>
                </a:solidFill>
                <a:latin typeface="Consolas"/>
              </a:rPr>
              <a:t>one scenario + strict mocking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5927" y="4846320"/>
            <a:ext cx="4572000" cy="198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 dirty="0">
                <a:solidFill>
                  <a:srgbClr val="E06B5C"/>
                </a:solidFill>
                <a:latin typeface="Consolas"/>
              </a:rPr>
              <a:t>+ RAG on retry: similar tests as examples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5927" y="5257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C6B7A"/>
                </a:solidFill>
                <a:latin typeface="Calibri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5927" y="55321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C"/>
                </a:solidFill>
                <a:latin typeface="Consolas"/>
              </a:rPr>
              <a:t>one pytest function, in its own test 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1">
                <a:solidFill>
                  <a:srgbClr val="0D1B3D"/>
                </a:solidFill>
                <a:latin typeface="Cambria"/>
              </a:rPr>
              <a:t>Plans don't worry about syntax. Code doesn't worry about strategy.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6B5C"/>
                </a:solidFill>
                <a:latin typeface="Calibri"/>
              </a:rPr>
              <a:t>INNER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20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C6B7A"/>
                </a:solidFill>
                <a:latin typeface="Calibri"/>
              </a:rPr>
              <a:t>09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41B2C"/>
                </a:solidFill>
                <a:latin typeface="Cambria"/>
              </a:rPr>
              <a:t>Self-healing. Listen to pytest.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6ECF5"/>
                </a:solidFill>
                <a:latin typeface="Calibri"/>
              </a:rPr>
              <a:t>Write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19456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E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2359152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6ECF5"/>
                </a:solidFill>
                <a:latin typeface="Calibri"/>
              </a:rPr>
              <a:t>Pylint</a:t>
            </a:r>
          </a:p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6ECF5"/>
                </a:solidFill>
                <a:latin typeface="Calibri"/>
              </a:rPr>
              <a:t>→ Pytest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6ECF5"/>
                </a:solidFill>
                <a:latin typeface="Calibri"/>
              </a:rPr>
              <a:t>Rewrite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365760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393192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6ECF5"/>
                </a:solidFill>
                <a:latin typeface="Calibri"/>
              </a:rPr>
              <a:t>Read error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34640" y="2651760"/>
            <a:ext cx="365760" cy="0"/>
          </a:xfrm>
          <a:prstGeom prst="line">
            <a:avLst/>
          </a:prstGeom>
          <a:ln w="25400">
            <a:solidFill>
              <a:srgbClr val="6E8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297680" y="3108960"/>
            <a:ext cx="0" cy="548640"/>
          </a:xfrm>
          <a:prstGeom prst="line">
            <a:avLst/>
          </a:prstGeom>
          <a:ln w="25400">
            <a:solidFill>
              <a:srgbClr val="6E8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4114800"/>
            <a:ext cx="365760" cy="0"/>
          </a:xfrm>
          <a:prstGeom prst="line">
            <a:avLst/>
          </a:prstGeom>
          <a:ln w="25400">
            <a:solidFill>
              <a:srgbClr val="6E8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37360" y="3108960"/>
            <a:ext cx="0" cy="548640"/>
          </a:xfrm>
          <a:prstGeom prst="line">
            <a:avLst/>
          </a:prstGeom>
          <a:ln w="25400">
            <a:solidFill>
              <a:srgbClr val="6E8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394960" y="2651760"/>
            <a:ext cx="640080" cy="0"/>
          </a:xfrm>
          <a:prstGeom prst="line">
            <a:avLst/>
          </a:prstGeom>
          <a:ln w="25400">
            <a:solidFill>
              <a:srgbClr val="1E3A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80760" y="24231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3A6F"/>
                </a:solidFill>
                <a:latin typeface="Calibri"/>
              </a:rPr>
              <a:t>pass → done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1031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6B5C"/>
                </a:solidFill>
                <a:latin typeface="Calibri"/>
              </a:rPr>
              <a:t>THIS IS REACT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560320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41B2C"/>
                </a:solidFill>
                <a:latin typeface="Cambria"/>
              </a:rPr>
              <a:t>Reason + Act, in a tight loop.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474720"/>
            <a:ext cx="4389120" cy="1531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 dirty="0" err="1">
                <a:solidFill>
                  <a:srgbClr val="141B2C"/>
                </a:solidFill>
                <a:latin typeface="Calibri"/>
              </a:rPr>
              <a:t>Pylint</a:t>
            </a:r>
            <a:r>
              <a:rPr sz="1400" b="0" i="0" dirty="0">
                <a:solidFill>
                  <a:srgbClr val="141B2C"/>
                </a:solidFill>
                <a:latin typeface="Calibri"/>
              </a:rPr>
              <a:t> first (cheap), then </a:t>
            </a:r>
            <a:r>
              <a:rPr sz="1400" b="0" i="0" dirty="0" err="1">
                <a:solidFill>
                  <a:srgbClr val="141B2C"/>
                </a:solidFill>
                <a:latin typeface="Calibri"/>
              </a:rPr>
              <a:t>pytest</a:t>
            </a:r>
            <a:r>
              <a:rPr sz="1400" b="0" i="0" dirty="0">
                <a:solidFill>
                  <a:srgbClr val="141B2C"/>
                </a:solidFill>
                <a:latin typeface="Calibri"/>
              </a:rPr>
              <a:t> with JSON report.</a:t>
            </a:r>
          </a:p>
          <a:p>
            <a:pPr algn="l">
              <a:lnSpc>
                <a:spcPct val="145000"/>
              </a:lnSpc>
            </a:pPr>
            <a:endParaRPr sz="1400" b="0" i="0" dirty="0">
              <a:solidFill>
                <a:srgbClr val="141B2C"/>
              </a:solidFill>
              <a:latin typeface="Calibri"/>
            </a:endParaRPr>
          </a:p>
          <a:p>
            <a:pPr algn="l">
              <a:lnSpc>
                <a:spcPct val="145000"/>
              </a:lnSpc>
            </a:pPr>
            <a:r>
              <a:rPr sz="1400" b="0" i="0" dirty="0">
                <a:solidFill>
                  <a:srgbClr val="141B2C"/>
                </a:solidFill>
                <a:latin typeface="Calibri"/>
              </a:rPr>
              <a:t>On failure, the agent gets the real error plus 2 similar tested functions retrieved via RAG. It rewrites against ground truth</a:t>
            </a:r>
            <a:r>
              <a:rPr lang="pt-PT" sz="1400" b="0" i="0" dirty="0">
                <a:solidFill>
                  <a:srgbClr val="141B2C"/>
                </a:solidFill>
                <a:latin typeface="Calibri"/>
              </a:rPr>
              <a:t>,</a:t>
            </a:r>
            <a:r>
              <a:rPr sz="1400" b="0" i="0" dirty="0">
                <a:solidFill>
                  <a:srgbClr val="141B2C"/>
                </a:solidFill>
                <a:latin typeface="Calibri"/>
              </a:rPr>
              <a:t> not a guess.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5486400"/>
            <a:ext cx="4389120" cy="822960"/>
          </a:xfrm>
          <a:prstGeom prst="rect">
            <a:avLst/>
          </a:prstGeom>
          <a:solidFill>
            <a:srgbClr val="E6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43800" y="55778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06B5C"/>
                </a:solidFill>
                <a:latin typeface="Calibri"/>
              </a:rPr>
              <a:t>Quarantine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585216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C6B7A"/>
                </a:solidFill>
                <a:latin typeface="Calibri"/>
              </a:rPr>
              <a:t>After 3 failed repairs → move to test_quarantine/ with the</a:t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C6B7A"/>
                </a:solidFill>
                <a:latin typeface="Calibri"/>
              </a:rPr>
              <a:t>error appended. Suite stays green, evidence is kept.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6B5C"/>
                </a:solidFill>
                <a:latin typeface="Calibri"/>
              </a:rPr>
              <a:t>OUTER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20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C6B7A"/>
                </a:solidFill>
                <a:latin typeface="Calibri"/>
              </a:rPr>
              <a:t>10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41B2C"/>
                </a:solidFill>
                <a:latin typeface="Cambria"/>
              </a:rPr>
              <a:t>Coverage-driven. Chase the dark corners.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1E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103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ECF5"/>
                </a:solidFill>
                <a:latin typeface="Calibri"/>
              </a:rPr>
              <a:t>Suite passes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246888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1E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07792" y="2743200"/>
            <a:ext cx="2103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ECF5"/>
                </a:solidFill>
                <a:latin typeface="Calibri"/>
              </a:rPr>
              <a:t>Run coverage.py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2971800"/>
            <a:ext cx="164592" cy="0"/>
          </a:xfrm>
          <a:prstGeom prst="line">
            <a:avLst/>
          </a:prstGeom>
          <a:ln w="25400">
            <a:solidFill>
              <a:srgbClr val="6E8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75504" y="246888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75504" y="2743200"/>
            <a:ext cx="2103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ECF5"/>
                </a:solidFill>
                <a:latin typeface="Calibri"/>
              </a:rPr>
              <a:t>Find missed lines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10912" y="2971800"/>
            <a:ext cx="164592" cy="0"/>
          </a:xfrm>
          <a:prstGeom prst="line">
            <a:avLst/>
          </a:prstGeom>
          <a:ln w="25400">
            <a:solidFill>
              <a:srgbClr val="6E8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43216" y="246888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43216" y="2743200"/>
            <a:ext cx="2103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ECF5"/>
                </a:solidFill>
                <a:latin typeface="Calibri"/>
              </a:rPr>
              <a:t>Augment Planner prompt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78624" y="2971800"/>
            <a:ext cx="164592" cy="0"/>
          </a:xfrm>
          <a:prstGeom prst="line">
            <a:avLst/>
          </a:prstGeom>
          <a:ln w="25400">
            <a:solidFill>
              <a:srgbClr val="6E8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10928" y="246888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10928" y="2743200"/>
            <a:ext cx="2103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ECF5"/>
                </a:solidFill>
                <a:latin typeface="Calibri"/>
              </a:rPr>
              <a:t>New scenarios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46336" y="2971800"/>
            <a:ext cx="164592" cy="0"/>
          </a:xfrm>
          <a:prstGeom prst="line">
            <a:avLst/>
          </a:prstGeom>
          <a:ln w="25400">
            <a:solidFill>
              <a:srgbClr val="6E8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62488" y="3474720"/>
            <a:ext cx="0" cy="411480"/>
          </a:xfrm>
          <a:prstGeom prst="line">
            <a:avLst/>
          </a:prstGeom>
          <a:ln w="25400">
            <a:solidFill>
              <a:srgbClr val="0D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691640" y="3886200"/>
            <a:ext cx="9070848" cy="0"/>
          </a:xfrm>
          <a:prstGeom prst="line">
            <a:avLst/>
          </a:prstGeom>
          <a:ln w="25400">
            <a:solidFill>
              <a:srgbClr val="0D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91640" y="3474720"/>
            <a:ext cx="0" cy="411480"/>
          </a:xfrm>
          <a:prstGeom prst="line">
            <a:avLst/>
          </a:prstGeom>
          <a:ln w="25400">
            <a:solidFill>
              <a:srgbClr val="0D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74520" y="3566160"/>
            <a:ext cx="8705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1E3A6F"/>
                </a:solidFill>
                <a:latin typeface="Calibri"/>
              </a:rPr>
              <a:t>repeat for N rounds (default: 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2920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06B5C"/>
                </a:solidFill>
                <a:latin typeface="Calibri"/>
              </a:rPr>
              <a:t>Why this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394960"/>
            <a:ext cx="5394960" cy="8141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 dirty="0">
                <a:solidFill>
                  <a:srgbClr val="141B2C"/>
                </a:solidFill>
                <a:latin typeface="Calibri"/>
              </a:rPr>
              <a:t>A </a:t>
            </a:r>
            <a:r>
              <a:rPr sz="1300" b="0" i="0" dirty="0" err="1">
                <a:solidFill>
                  <a:srgbClr val="141B2C"/>
                </a:solidFill>
                <a:latin typeface="Calibri"/>
              </a:rPr>
              <a:t>na</a:t>
            </a:r>
            <a:r>
              <a:rPr lang="pt-PT" sz="1300" b="0" i="0" dirty="0">
                <a:solidFill>
                  <a:srgbClr val="141B2C"/>
                </a:solidFill>
                <a:latin typeface="Calibri"/>
              </a:rPr>
              <a:t>i</a:t>
            </a:r>
            <a:r>
              <a:rPr sz="1300" b="0" i="0" dirty="0" err="1">
                <a:solidFill>
                  <a:srgbClr val="141B2C"/>
                </a:solidFill>
                <a:latin typeface="Calibri"/>
              </a:rPr>
              <a:t>ve</a:t>
            </a:r>
            <a:r>
              <a:rPr sz="1300" b="0" i="0" dirty="0">
                <a:solidFill>
                  <a:srgbClr val="141B2C"/>
                </a:solidFill>
                <a:latin typeface="Calibri"/>
              </a:rPr>
              <a:t> LLM writes a happy-path test and stops.</a:t>
            </a:r>
          </a:p>
          <a:p>
            <a:pPr algn="l">
              <a:lnSpc>
                <a:spcPct val="140000"/>
              </a:lnSpc>
            </a:pPr>
            <a:r>
              <a:rPr sz="1300" b="0" i="0" dirty="0">
                <a:solidFill>
                  <a:srgbClr val="141B2C"/>
                </a:solidFill>
                <a:latin typeface="Calibri"/>
              </a:rPr>
              <a:t>Each round, the Planner is told MISSING LINES TO COVER and instructed to design scenarios that hit them.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02920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06B5C"/>
                </a:solidFill>
                <a:latin typeface="Calibri"/>
              </a:rPr>
              <a:t>It's a feedback 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94960"/>
            <a:ext cx="5394960" cy="53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 dirty="0">
                <a:solidFill>
                  <a:srgbClr val="141B2C"/>
                </a:solidFill>
                <a:latin typeface="Calibri"/>
              </a:rPr>
              <a:t>Coverage isn't the goal</a:t>
            </a:r>
            <a:r>
              <a:rPr lang="pt-PT" sz="1300" b="0" i="0" dirty="0">
                <a:solidFill>
                  <a:srgbClr val="141B2C"/>
                </a:solidFill>
                <a:latin typeface="Calibri"/>
              </a:rPr>
              <a:t>,</a:t>
            </a:r>
            <a:r>
              <a:rPr sz="1300" b="0" i="0" dirty="0">
                <a:solidFill>
                  <a:srgbClr val="141B2C"/>
                </a:solidFill>
                <a:latin typeface="Calibri"/>
              </a:rPr>
              <a:t> fault-finding is. But it's the cheapest, fastest signal the model can react to between rounds.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228600" cy="228600"/>
          </a:xfrm>
          <a:prstGeom prst="rect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640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6B5C"/>
                </a:solidFill>
                <a:latin typeface="Calibr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6ECF5"/>
                </a:solidFill>
                <a:latin typeface="Calibri"/>
              </a:rPr>
              <a:t>11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E6ECF5"/>
                </a:solidFill>
                <a:latin typeface="Cambria"/>
              </a:rPr>
              <a:t>Two ideas worth stealing.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287" y="2926080"/>
            <a:ext cx="5394960" cy="2377440"/>
          </a:xfrm>
          <a:prstGeom prst="rect">
            <a:avLst/>
          </a:prstGeom>
          <a:solidFill>
            <a:srgbClr val="1E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9487" y="320040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06B5C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487" y="388620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6ECF5"/>
                </a:solidFill>
                <a:latin typeface="Cambria"/>
              </a:rPr>
              <a:t>Specialise your agents.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487" y="4480560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E8CB8"/>
                </a:solidFill>
                <a:latin typeface="Calibri"/>
              </a:rPr>
              <a:t>Smaller context. Sharper job. Fewer hallucinations.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E8CB8"/>
                </a:solidFill>
                <a:latin typeface="Calibri"/>
              </a:rPr>
              <a:t>One LLM doing three things badly &lt; three prompts doing one thing well.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2926080"/>
            <a:ext cx="5394960" cy="2377440"/>
          </a:xfrm>
          <a:prstGeom prst="rect">
            <a:avLst/>
          </a:prstGeom>
          <a:solidFill>
            <a:srgbClr val="1E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81647" y="320040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06B5C"/>
                </a:solidFill>
                <a:latin typeface="Cambr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647" y="388620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6ECF5"/>
                </a:solidFill>
                <a:latin typeface="Cambria"/>
              </a:rPr>
              <a:t>Close the loop with the runtime.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1647" y="4480560"/>
            <a:ext cx="4480560" cy="551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 dirty="0">
                <a:solidFill>
                  <a:srgbClr val="6E8CB8"/>
                </a:solidFill>
                <a:latin typeface="Calibri"/>
              </a:rPr>
              <a:t>Don't trust the LLM</a:t>
            </a:r>
            <a:r>
              <a:rPr lang="pt-PT" sz="1300" b="0" i="0" dirty="0">
                <a:solidFill>
                  <a:srgbClr val="6E8CB8"/>
                </a:solidFill>
                <a:latin typeface="Calibri"/>
              </a:rPr>
              <a:t>, </a:t>
            </a:r>
            <a:r>
              <a:rPr sz="1300" b="0" i="0" dirty="0">
                <a:solidFill>
                  <a:srgbClr val="6E8CB8"/>
                </a:solidFill>
                <a:latin typeface="Calibri"/>
              </a:rPr>
              <a:t>make it prove its work.</a:t>
            </a:r>
          </a:p>
          <a:p>
            <a:pPr algn="l">
              <a:lnSpc>
                <a:spcPct val="145000"/>
              </a:lnSpc>
            </a:pPr>
            <a:r>
              <a:rPr sz="1300" b="0" i="0" dirty="0" err="1">
                <a:solidFill>
                  <a:srgbClr val="6E8CB8"/>
                </a:solidFill>
                <a:latin typeface="Calibri"/>
              </a:rPr>
              <a:t>Pytest</a:t>
            </a:r>
            <a:r>
              <a:rPr sz="1300" b="0" i="0" dirty="0">
                <a:solidFill>
                  <a:srgbClr val="6E8CB8"/>
                </a:solidFill>
                <a:latin typeface="Calibri"/>
              </a:rPr>
              <a:t> and coverage are cheap, brutal, and honest teachers.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10972800" cy="226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 dirty="0">
                <a:solidFill>
                  <a:srgbClr val="6E8CB8"/>
                </a:solidFill>
                <a:latin typeface="Cambria"/>
              </a:rPr>
              <a:t>Still regression tests </a:t>
            </a:r>
            <a:r>
              <a:rPr lang="pt-PT" sz="1400" b="0" i="1" dirty="0">
                <a:solidFill>
                  <a:srgbClr val="6E8CB8"/>
                </a:solidFill>
                <a:latin typeface="Cambria"/>
              </a:rPr>
              <a:t>-</a:t>
            </a:r>
            <a:r>
              <a:rPr sz="1400" b="0" i="1" dirty="0">
                <a:solidFill>
                  <a:srgbClr val="6E8CB8"/>
                </a:solidFill>
                <a:latin typeface="Cambria"/>
              </a:rPr>
              <a:t> MARTA captures what the code does, not what it should 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6ECF5"/>
                </a:solidFill>
                <a:latin typeface="Cambria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1040</Words>
  <Application>Microsoft Macintosh PowerPoint</Application>
  <PresentationFormat>Ecrã Panorâmico</PresentationFormat>
  <Paragraphs>174</Paragraphs>
  <Slides>11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Mario Joao Gomes Ribeiro</cp:lastModifiedBy>
  <cp:revision>2</cp:revision>
  <dcterms:created xsi:type="dcterms:W3CDTF">2013-01-27T09:14:16Z</dcterms:created>
  <dcterms:modified xsi:type="dcterms:W3CDTF">2026-06-01T16:30:14Z</dcterms:modified>
  <cp:category/>
</cp:coreProperties>
</file>