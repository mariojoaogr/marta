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01"/>
    <p:restoredTop sz="96455"/>
  </p:normalViewPr>
  <p:slideViewPr>
    <p:cSldViewPr snapToGrid="0" snapToObjects="1">
      <p:cViewPr varScale="1">
        <p:scale>
          <a:sx n="154" d="100"/>
          <a:sy n="154" d="100"/>
        </p:scale>
        <p:origin x="84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lha_de_C_lculo_do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1"/>
  <c:style val="2"/>
  <c:chart>
    <c:title>
      <c:tx>
        <c:rich>
          <a:bodyPr/>
          <a:lstStyle/>
          <a:p>
            <a:r>
              <a:rPr lang="pt-PT" sz="1300" b="1">
                <a:solidFill>
                  <a:srgbClr val="141B2C"/>
                </a:solidFill>
                <a:latin typeface="Cambria"/>
              </a:rPr>
              <a:t>Statement Coverage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TEST4PY (baseline)</c:v>
                </c:pt>
              </c:strCache>
            </c:strRef>
          </c:tx>
          <c:spPr>
            <a:solidFill>
              <a:srgbClr val="1E3A6F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str-utils</c:v>
                </c:pt>
                <c:pt idx="1">
                  <c:v>pytutils</c:v>
                </c:pt>
                <c:pt idx="2">
                  <c:v>superstring</c:v>
                </c:pt>
                <c:pt idx="3">
                  <c:v>codetiming</c:v>
                </c:pt>
                <c:pt idx="4">
                  <c:v>isort</c:v>
                </c:pt>
                <c:pt idx="5">
                  <c:v>sty</c:v>
                </c:pt>
                <c:pt idx="6">
                  <c:v>pyMonet</c:v>
                </c:pt>
                <c:pt idx="7">
                  <c:v>flutes</c:v>
                </c:pt>
                <c:pt idx="8">
                  <c:v>dc-json</c:v>
                </c:pt>
                <c:pt idx="9">
                  <c:v>docstring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80.099999999999994</c:v>
                </c:pt>
                <c:pt idx="1">
                  <c:v>33.14</c:v>
                </c:pt>
                <c:pt idx="2">
                  <c:v>41.76</c:v>
                </c:pt>
                <c:pt idx="3">
                  <c:v>85</c:v>
                </c:pt>
                <c:pt idx="4">
                  <c:v>41.49</c:v>
                </c:pt>
                <c:pt idx="5">
                  <c:v>87.63</c:v>
                </c:pt>
                <c:pt idx="6">
                  <c:v>68.459999999999994</c:v>
                </c:pt>
                <c:pt idx="7">
                  <c:v>51.21</c:v>
                </c:pt>
                <c:pt idx="8">
                  <c:v>46.82</c:v>
                </c:pt>
                <c:pt idx="9">
                  <c:v>46.42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4EB6-5346-82B7-9A248FF80C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MARTA (3 rounds)</c:v>
                </c:pt>
              </c:strCache>
            </c:strRef>
          </c:tx>
          <c:spPr>
            <a:solidFill>
              <a:srgbClr val="E06B5C"/>
            </a:solidFill>
          </c:spPr>
          <c:invertIfNegative val="1"/>
          <c:cat>
            <c:strRef>
              <c:f>Sheet1!$A$2:$A$11</c:f>
              <c:strCache>
                <c:ptCount val="10"/>
                <c:pt idx="0">
                  <c:v>str-utils</c:v>
                </c:pt>
                <c:pt idx="1">
                  <c:v>pytutils</c:v>
                </c:pt>
                <c:pt idx="2">
                  <c:v>superstring</c:v>
                </c:pt>
                <c:pt idx="3">
                  <c:v>codetiming</c:v>
                </c:pt>
                <c:pt idx="4">
                  <c:v>isort</c:v>
                </c:pt>
                <c:pt idx="5">
                  <c:v>sty</c:v>
                </c:pt>
                <c:pt idx="6">
                  <c:v>pyMonet</c:v>
                </c:pt>
                <c:pt idx="7">
                  <c:v>flutes</c:v>
                </c:pt>
                <c:pt idx="8">
                  <c:v>dc-json</c:v>
                </c:pt>
                <c:pt idx="9">
                  <c:v>docstring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85.74</c:v>
                </c:pt>
                <c:pt idx="1">
                  <c:v>42.67</c:v>
                </c:pt>
                <c:pt idx="2">
                  <c:v>62.35</c:v>
                </c:pt>
                <c:pt idx="3">
                  <c:v>73.33</c:v>
                </c:pt>
                <c:pt idx="4">
                  <c:v>54.95</c:v>
                </c:pt>
                <c:pt idx="5">
                  <c:v>91.75</c:v>
                </c:pt>
                <c:pt idx="6">
                  <c:v>91.28</c:v>
                </c:pt>
                <c:pt idx="7">
                  <c:v>58.34</c:v>
                </c:pt>
                <c:pt idx="8">
                  <c:v>44.5</c:v>
                </c:pt>
                <c:pt idx="9">
                  <c:v>45.3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4EB6-5346-82B7-9A248FF80C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C6B7A"/>
                </a:solidFill>
              </a:defRPr>
            </a:pPr>
            <a:endParaRPr lang="pt-P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5C6B7A"/>
                </a:solidFill>
              </a:defRPr>
            </a:pPr>
            <a:endParaRPr lang="pt-PT"/>
          </a:p>
        </c:txPr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B281F-CD09-8B44-86A1-586A26CFC6AC}" type="datetimeFigureOut">
              <a:rPr lang="pt-PT" smtClean="0"/>
              <a:t>03/06/26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FBF8D-2B52-624B-A923-BFFA93B0ED5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0897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FBF8D-2B52-624B-A923-BFFA93B0ED5B}" type="slidenum">
              <a:rPr lang="pt-PT" smtClean="0"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20667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28600" cy="22860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6ECF5"/>
                </a:solidFill>
                <a:latin typeface="Calibri"/>
              </a:rPr>
              <a:t>GECAD  ·  PYTHON TEST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0" b="1" i="0">
                <a:solidFill>
                  <a:srgbClr val="E6ECF5"/>
                </a:solidFill>
                <a:latin typeface="Cambria"/>
              </a:rPr>
              <a:t>MARTA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6E8CB8"/>
                </a:solidFill>
                <a:latin typeface="Cambria"/>
              </a:rPr>
              <a:t>A decoupled multi-agent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233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6E8CB8"/>
                </a:solidFill>
                <a:latin typeface="Cambria"/>
              </a:rPr>
              <a:t>for Python test generation.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6B5C"/>
                </a:solidFill>
                <a:latin typeface="Calibri"/>
              </a:rPr>
              <a:t>Walkthrough on a real function.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6ECF5"/>
                </a:solidFill>
                <a:latin typeface="Calibri"/>
              </a:rPr>
              <a:t>Mário João Gomes Ribeiro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THE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Same context, one prompt: this is what happens.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6B7A"/>
                </a:solidFill>
                <a:latin typeface="Calibri"/>
              </a:rPr>
              <a:t>A test our baseline (TEST4PY) produced — real, for sty/renderfunc.rgb_bg: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5486400" cy="2743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5212080" cy="2560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# Module: sty.renderfunc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from sty.renderfunc import rgb_bg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import pytest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def test_rgb_bg_invalid_range():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"""Test that an invalid RGB input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   raises a ValueError."""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with pytest.raises(ValueError):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    rgb_bg(256, 256, 256)  # Out of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166360"/>
            <a:ext cx="5486400" cy="1280160"/>
          </a:xfrm>
          <a:prstGeom prst="rect">
            <a:avLst/>
          </a:prstGeom>
          <a:solidFill>
            <a:srgbClr val="FC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0392B"/>
                </a:solidFill>
                <a:latin typeface="Consolas"/>
              </a:rPr>
              <a:t>pytest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5212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0392B"/>
                </a:solidFill>
                <a:latin typeface="Consolas"/>
              </a:rPr>
              <a:t>Failed: DID NOT RAISE &lt;class 'ValueError'&gt;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C6B7A"/>
                </a:solidFill>
                <a:latin typeface="Calibri"/>
              </a:rPr>
              <a:t>(rgb_bg accepts any int — it never validates range)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202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WHAT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B2C"/>
                </a:solidFill>
                <a:latin typeface="Cambria"/>
              </a:rPr>
              <a:t>The LLM assumed the function</a:t>
            </a:r>
          </a:p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B2C"/>
                </a:solidFill>
                <a:latin typeface="Cambria"/>
              </a:rPr>
              <a:t>validates input.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6616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 dirty="0">
                <a:solidFill>
                  <a:srgbClr val="141B2C"/>
                </a:solidFill>
                <a:latin typeface="Calibri"/>
              </a:rPr>
              <a:t>It doesn't. </a:t>
            </a:r>
            <a:r>
              <a:rPr sz="1300" b="0" i="0" dirty="0" err="1">
                <a:solidFill>
                  <a:srgbClr val="141B2C"/>
                </a:solidFill>
                <a:latin typeface="Calibri"/>
              </a:rPr>
              <a:t>rgb_bg</a:t>
            </a:r>
            <a:r>
              <a:rPr sz="1300" b="0" i="0" dirty="0">
                <a:solidFill>
                  <a:srgbClr val="141B2C"/>
                </a:solidFill>
                <a:latin typeface="Calibri"/>
              </a:rPr>
              <a:t> just builds an ANSI escape string with whatever numbers you pass.</a:t>
            </a:r>
          </a:p>
          <a:p>
            <a:pPr algn="l">
              <a:lnSpc>
                <a:spcPct val="145000"/>
              </a:lnSpc>
            </a:pPr>
            <a:endParaRPr sz="1300" b="0" i="0" dirty="0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5000"/>
              </a:lnSpc>
            </a:pPr>
            <a:r>
              <a:rPr sz="1300" b="0" i="0" dirty="0">
                <a:solidFill>
                  <a:srgbClr val="141B2C"/>
                </a:solidFill>
                <a:latin typeface="Calibri"/>
              </a:rPr>
              <a:t>Same Phase 1 context MARTA uses — but one big prompt to write the test.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5669280"/>
            <a:ext cx="5029200" cy="86868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0" y="57607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D1B3D"/>
                </a:solidFill>
                <a:latin typeface="Calibri"/>
              </a:rPr>
              <a:t>Baseline = TEST4PY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03504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0D1B3D"/>
                </a:solidFill>
                <a:latin typeface="Calibri"/>
              </a:rPr>
              <a:t>Same Phase 1 as MARTA. The only thing it lacks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0D1B3D"/>
                </a:solidFill>
                <a:latin typeface="Calibri"/>
              </a:rPr>
              <a:t>is the Planner / Assertion split + the loops.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THE HARD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Now ask an LLM to test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5C6B7A"/>
                </a:solidFill>
                <a:latin typeface="Cambria"/>
              </a:rPr>
              <a:t>Real Python. No type hints. Effects come from another module's constants.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6035040" cy="39319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5760720" cy="3749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class EfRegister(Register):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"""The default effect register."""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def __init__(self):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super().__init__()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self.renderfuncs[Sgr] = renderfunc.sgr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self.b      = Style(Sgr(1))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self.bold   = Style(Sgr(1))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self.dim    = Style(Sgr(2))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self.i      = Style(Sgr(3))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self.italic = Style(Sgr(3))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self.u      = Style(Sgr(4))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self.underl = Style(Sgr(4))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self.blink  = Style(Sgr(5))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# ...8 more effects...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3317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WHAT THE LLM HAS TO GUESS</a:t>
            </a:r>
          </a:p>
        </p:txBody>
      </p:sp>
      <p:sp>
        <p:nvSpPr>
          <p:cNvPr id="10" name="Oval 9"/>
          <p:cNvSpPr/>
          <p:nvPr/>
        </p:nvSpPr>
        <p:spPr>
          <a:xfrm>
            <a:off x="7040880" y="2953512"/>
            <a:ext cx="146304" cy="146304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0" y="278892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onsolas"/>
              </a:rPr>
              <a:t>What is Style?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3639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C6B7A"/>
                </a:solidFill>
                <a:latin typeface="Calibri"/>
              </a:rPr>
              <a:t>Some wrapper class. Imported how?</a:t>
            </a:r>
          </a:p>
        </p:txBody>
      </p:sp>
      <p:sp>
        <p:nvSpPr>
          <p:cNvPr id="13" name="Oval 12"/>
          <p:cNvSpPr/>
          <p:nvPr/>
        </p:nvSpPr>
        <p:spPr>
          <a:xfrm>
            <a:off x="7040880" y="3730752"/>
            <a:ext cx="146304" cy="146304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0" y="356616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onsolas"/>
              </a:rPr>
              <a:t>What is Sgr?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91363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C6B7A"/>
                </a:solidFill>
                <a:latin typeface="Calibri"/>
              </a:rPr>
              <a:t>A number? An enum? A callable?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0" y="4507992"/>
            <a:ext cx="146304" cy="146304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0" y="43434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onsolas"/>
              </a:rPr>
              <a:t>What does renderfunc.sgr 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69087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C6B7A"/>
                </a:solidFill>
                <a:latin typeface="Calibri"/>
              </a:rPr>
              <a:t>A formatter? A renderer? Side-effects?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5285232"/>
            <a:ext cx="146304" cy="146304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0" y="512064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onsolas"/>
              </a:rPr>
              <a:t>Is super() doing anything?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46811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C6B7A"/>
                </a:solidFill>
                <a:latin typeface="Calibri"/>
              </a:rPr>
              <a:t>What's the parent class? Mocks?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0D1B3D"/>
                </a:solidFill>
                <a:latin typeface="Cambria"/>
              </a:rPr>
              <a:t>Guess wrong → hallucinated assertions, broken imports, dead 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28600" cy="22860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MARTA'S BET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6ECF5"/>
                </a:solidFill>
                <a:latin typeface="Calibri"/>
              </a:rPr>
              <a:t>04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E6ECF5"/>
                </a:solidFill>
                <a:latin typeface="Cambria"/>
              </a:rPr>
              <a:t>Don't make one LLM do everything.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6E8CB8"/>
                </a:solidFill>
                <a:latin typeface="Cambria"/>
              </a:rPr>
              <a:t>Three moves we make instead.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6587" y="3520440"/>
            <a:ext cx="3520440" cy="3108960"/>
          </a:xfrm>
          <a:prstGeom prst="rect">
            <a:avLst/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2347" y="384048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06B5C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347" y="4343400"/>
            <a:ext cx="2788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6ECF5"/>
                </a:solidFill>
                <a:latin typeface="Cambria"/>
              </a:rPr>
              <a:t>Specialise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347" y="5029200"/>
            <a:ext cx="27889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Two agents.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One plans WHAT to test.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One writes HOW.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Smaller jobs, fewer hallucinations.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3520440"/>
            <a:ext cx="3520440" cy="3108960"/>
          </a:xfrm>
          <a:prstGeom prst="rect">
            <a:avLst/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1387" y="384048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06B5C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1387" y="4343400"/>
            <a:ext cx="2788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6ECF5"/>
                </a:solidFill>
                <a:latin typeface="Cambria"/>
              </a:rPr>
              <a:t>Travel the call graph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1387" y="5029200"/>
            <a:ext cx="27889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Build each function's understanding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from the summaries of every function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it calls. Recursively.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4667" y="3520440"/>
            <a:ext cx="3520440" cy="3108960"/>
          </a:xfrm>
          <a:prstGeom prst="rect">
            <a:avLst/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0427" y="384048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06B5C"/>
                </a:solidFill>
                <a:latin typeface="Cambr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4343400"/>
            <a:ext cx="2788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6ECF5"/>
                </a:solidFill>
                <a:latin typeface="Cambria"/>
              </a:rPr>
              <a:t>Close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0427" y="5029200"/>
            <a:ext cx="27889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Pytest runs the test.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Its real error feeds back.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The LLM rewrites against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E8CB8"/>
                </a:solidFill>
                <a:latin typeface="Calibri"/>
              </a:rPr>
              <a:t>ground truth, not a guess.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Two phases. One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C6B7A"/>
                </a:solidFill>
                <a:latin typeface="Cambria"/>
              </a:rPr>
              <a:t>Build the right context first. Then let focused agents do the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5167" y="2743200"/>
            <a:ext cx="521208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5167" y="2743200"/>
            <a:ext cx="164592" cy="329184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2367" y="3063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2367" y="342900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B2C"/>
                </a:solidFill>
                <a:latin typeface="Cambria"/>
              </a:rPr>
              <a:t>Build the context</a:t>
            </a:r>
          </a:p>
        </p:txBody>
      </p:sp>
      <p:sp>
        <p:nvSpPr>
          <p:cNvPr id="11" name="Oval 10"/>
          <p:cNvSpPr/>
          <p:nvPr/>
        </p:nvSpPr>
        <p:spPr>
          <a:xfrm>
            <a:off x="1112367" y="423367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40967" y="411480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PyCG + 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0967" y="42793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static call graph and class structure</a:t>
            </a:r>
          </a:p>
        </p:txBody>
      </p:sp>
      <p:sp>
        <p:nvSpPr>
          <p:cNvPr id="14" name="Oval 13"/>
          <p:cNvSpPr/>
          <p:nvPr/>
        </p:nvSpPr>
        <p:spPr>
          <a:xfrm>
            <a:off x="1112367" y="464515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40967" y="452628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3-pass function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0967" y="469087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what it does, what it should do, merged</a:t>
            </a:r>
          </a:p>
        </p:txBody>
      </p:sp>
      <p:sp>
        <p:nvSpPr>
          <p:cNvPr id="17" name="Oval 16"/>
          <p:cNvSpPr/>
          <p:nvPr/>
        </p:nvSpPr>
        <p:spPr>
          <a:xfrm>
            <a:off x="1112367" y="505663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40967" y="493776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Per-class summary + how-to-use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0967" y="51023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feeds the type-inference RAG</a:t>
            </a:r>
          </a:p>
        </p:txBody>
      </p:sp>
      <p:sp>
        <p:nvSpPr>
          <p:cNvPr id="20" name="Oval 19"/>
          <p:cNvSpPr/>
          <p:nvPr/>
        </p:nvSpPr>
        <p:spPr>
          <a:xfrm>
            <a:off x="1112367" y="546811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40967" y="534924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Parameter type 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0967" y="551383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syntactic filter + semantic RAG (Chroma)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2743200"/>
            <a:ext cx="521208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24447" y="2743200"/>
            <a:ext cx="164592" cy="329184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81647" y="3063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1647" y="342900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41B2C"/>
                </a:solidFill>
                <a:latin typeface="Cambria"/>
              </a:rPr>
              <a:t>Multi-agent ReAct</a:t>
            </a:r>
          </a:p>
        </p:txBody>
      </p:sp>
      <p:sp>
        <p:nvSpPr>
          <p:cNvPr id="27" name="Oval 26"/>
          <p:cNvSpPr/>
          <p:nvPr/>
        </p:nvSpPr>
        <p:spPr>
          <a:xfrm>
            <a:off x="6781647" y="423367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10247" y="411480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Planner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0247" y="42793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3-scenario JSON plan + related-function RAG</a:t>
            </a:r>
          </a:p>
        </p:txBody>
      </p:sp>
      <p:sp>
        <p:nvSpPr>
          <p:cNvPr id="30" name="Oval 29"/>
          <p:cNvSpPr/>
          <p:nvPr/>
        </p:nvSpPr>
        <p:spPr>
          <a:xfrm>
            <a:off x="6781647" y="464515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10247" y="452628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Assertion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0247" y="469087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one pytest function per scenario</a:t>
            </a:r>
          </a:p>
        </p:txBody>
      </p:sp>
      <p:sp>
        <p:nvSpPr>
          <p:cNvPr id="33" name="Oval 32"/>
          <p:cNvSpPr/>
          <p:nvPr/>
        </p:nvSpPr>
        <p:spPr>
          <a:xfrm>
            <a:off x="6781647" y="505663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10247" y="493776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Inner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0247" y="510235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Pylint → Pytest, up to 3 self-healing attempts</a:t>
            </a:r>
          </a:p>
        </p:txBody>
      </p:sp>
      <p:sp>
        <p:nvSpPr>
          <p:cNvPr id="36" name="Oval 35"/>
          <p:cNvSpPr/>
          <p:nvPr/>
        </p:nvSpPr>
        <p:spPr>
          <a:xfrm>
            <a:off x="6781647" y="5468112"/>
            <a:ext cx="109728" cy="109728"/>
          </a:xfrm>
          <a:prstGeom prst="ellipse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10247" y="534924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B2C"/>
                </a:solidFill>
                <a:latin typeface="Calibri"/>
              </a:rPr>
              <a:t>Outer loop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0247" y="551383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N rounds, replays Planner with coverage feedback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67247" y="4389120"/>
            <a:ext cx="457200" cy="0"/>
          </a:xfrm>
          <a:prstGeom prst="line">
            <a:avLst/>
          </a:prstGeom>
          <a:ln w="38100">
            <a:solidFill>
              <a:srgbClr val="0D1B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12967" y="39776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feeds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RUNNING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Throughout the rest, one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D1B3D"/>
                </a:solidFill>
                <a:latin typeface="Consolas"/>
              </a:rPr>
              <a:t>EfRegister.__init__  —  from the sty library  ·  sty/register.py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6858000" cy="40233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6583680" cy="3840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class EfRegister(Register):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"""The default effect register.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Instances from this class can be used to create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effects like 'bold', 'dim', 'italic', 'blink', etc.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print(f"{ef.bold}Bold Text{ef.rs}")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"""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def __init__(self):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super().__init__()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self.renderfuncs[Sgr] = renderfunc.sgr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self.b      = Style(Sgr(1))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self.bold   = Style(Sgr(1))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self.dim    = Style(Sgr(2))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self.i      = Style(Sgr(3))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# ...10 more aliases for effects + rs (reset)...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4688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WHY THIS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834640"/>
            <a:ext cx="393192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Real Python, no parameters, no return.</a:t>
            </a:r>
          </a:p>
          <a:p>
            <a:pPr algn="l">
              <a:lnSpc>
                <a:spcPct val="145000"/>
              </a:lnSpc>
            </a:pPr>
            <a:endParaRPr sz="1300" b="0" i="0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Initialises 12 attributes from another module's constants.</a:t>
            </a:r>
          </a:p>
          <a:p>
            <a:pPr algn="l">
              <a:lnSpc>
                <a:spcPct val="145000"/>
              </a:lnSpc>
            </a:pPr>
            <a:endParaRPr sz="1300" b="0" i="0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Touches inheritance (super()), mutable state (renderfuncs), and a non-obvious class (Style).</a:t>
            </a:r>
          </a:p>
          <a:p>
            <a:pPr algn="l">
              <a:lnSpc>
                <a:spcPct val="145000"/>
              </a:lnSpc>
            </a:pPr>
            <a:endParaRPr sz="1300" b="0" i="0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Hard for any one-shot LLM. Ideal for MARTA.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1 — CONTEXT FOR EFREGISTER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We don't hand the LLM the source. We hand it understanding.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287" y="2194560"/>
            <a:ext cx="53949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2287" y="2194560"/>
            <a:ext cx="73152" cy="402336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6607" y="2423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FUNCTION-LEVEL SUMMARY (Phase 1, LLM)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607" y="27432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C"/>
                </a:solidFill>
                <a:latin typeface="Consolas"/>
              </a:rPr>
              <a:t>EfRegister.__init__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154680"/>
            <a:ext cx="49377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Initialises 12 text-effect Style objects on the instance (bold, dim, italic, blink, …), each wrapping a specific Sgr SGR code. Also binds renderfuncs[Sgr] to renderfunc.sgr so the register knows how to serialise any Sgr to its ANSI escape sequence.</a:t>
            </a:r>
          </a:p>
          <a:p>
            <a:pPr algn="l">
              <a:lnSpc>
                <a:spcPct val="140000"/>
              </a:lnSpc>
            </a:pPr>
            <a:endParaRPr sz="1200" b="0" i="1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Calls super().__init__() to inherit the base Register state.</a:t>
            </a:r>
          </a:p>
          <a:p>
            <a:pPr algn="l">
              <a:lnSpc>
                <a:spcPct val="140000"/>
              </a:lnSpc>
            </a:pPr>
            <a:endParaRPr sz="1200" b="0" i="1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No parameters. No return. Side-effects on self only.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2194560"/>
            <a:ext cx="539496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24447" y="2194560"/>
            <a:ext cx="73152" cy="402336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98767" y="24231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CLASS-LEVEL HOW-TO-USE (Phase 1, LLM)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7432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C"/>
                </a:solidFill>
                <a:latin typeface="Consolas"/>
              </a:rPr>
              <a:t>Style  (referenced by EfRegister)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154680"/>
            <a:ext cx="49377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Wraps one or more Sgr codes into a string-coercible object.</a:t>
            </a:r>
          </a:p>
          <a:p>
            <a:pPr algn="l">
              <a:lnSpc>
                <a:spcPct val="140000"/>
              </a:lnSpc>
            </a:pPr>
            <a:endParaRPr sz="1200" b="0" i="1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Constructor:</a:t>
            </a: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  Style(*sgrs)   — accepts any number of Sgr instances</a:t>
            </a:r>
          </a:p>
          <a:p>
            <a:pPr algn="l">
              <a:lnSpc>
                <a:spcPct val="140000"/>
              </a:lnSpc>
            </a:pPr>
            <a:endParaRPr sz="1200" b="0" i="1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Used as: str(Style(Sgr(1)))  →  '\x1b[1m'</a:t>
            </a:r>
          </a:p>
          <a:p>
            <a:pPr algn="l">
              <a:lnSpc>
                <a:spcPct val="140000"/>
              </a:lnSpc>
            </a:pPr>
            <a:endParaRPr sz="1200" b="0" i="1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Composes: str(Style(Sgr(22), Sgr(23), …)) joins each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C6B7A"/>
                </a:solidFill>
                <a:latin typeface="Calibri"/>
              </a:rPr>
              <a:t>All of this is produced by the LLM in Phase 1, once per project — then cached.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1 — WHY STATIC ANALYSIS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Summaries propagate up the call graph.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C6B7A"/>
                </a:solidFill>
                <a:latin typeface="Cambria"/>
              </a:rPr>
              <a:t>We don't summarise EfRegister.__init__ in a vacuum.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548640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377440" y="3108960"/>
            <a:ext cx="2011680" cy="594360"/>
          </a:xfrm>
          <a:prstGeom prst="roundRect">
            <a:avLst>
              <a:gd name="adj" fmla="val 6000"/>
            </a:avLst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3227832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ECF5"/>
                </a:solidFill>
                <a:latin typeface="Consolas"/>
              </a:rPr>
              <a:t>EfRegister.__init__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663440"/>
            <a:ext cx="2011680" cy="594360"/>
          </a:xfrm>
          <a:prstGeom prst="roundRect">
            <a:avLst>
              <a:gd name="adj" fmla="val 6000"/>
            </a:avLst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782312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ECF5"/>
                </a:solidFill>
                <a:latin typeface="Consolas"/>
              </a:rPr>
              <a:t>Style.__init__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40" y="4663440"/>
            <a:ext cx="2011680" cy="594360"/>
          </a:xfrm>
          <a:prstGeom prst="roundRect">
            <a:avLst>
              <a:gd name="adj" fmla="val 6000"/>
            </a:avLst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0" y="4782312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ECF5"/>
                </a:solidFill>
                <a:latin typeface="Consolas"/>
              </a:rPr>
              <a:t>renderfunc.sgr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011680" y="3703320"/>
            <a:ext cx="914400" cy="960120"/>
          </a:xfrm>
          <a:prstGeom prst="line">
            <a:avLst/>
          </a:prstGeom>
          <a:ln w="25400">
            <a:solidFill>
              <a:srgbClr val="6E8C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840480" y="3703320"/>
            <a:ext cx="914400" cy="960120"/>
          </a:xfrm>
          <a:prstGeom prst="line">
            <a:avLst/>
          </a:prstGeom>
          <a:ln w="25400">
            <a:solidFill>
              <a:srgbClr val="6E8C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C6B7A"/>
                </a:solidFill>
                <a:latin typeface="Calibri"/>
              </a:rPr>
              <a:t>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2356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Summary of EfRegister.__init__ is built knowing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41B2C"/>
                </a:solidFill>
                <a:latin typeface="Calibri"/>
              </a:rPr>
              <a:t>what Style and renderfunc.sgr actually 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2743200"/>
            <a:ext cx="50292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75120" y="2743200"/>
            <a:ext cx="73152" cy="105156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0" y="29077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alibri"/>
              </a:rPr>
              <a:t>Recursive function summaries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246120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C6B7A"/>
                </a:solidFill>
                <a:latin typeface="Calibri"/>
              </a:rPr>
              <a:t>Caller's docstring is grounded in summaries of its callees, all the way down.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3959352"/>
            <a:ext cx="50292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75120" y="3959352"/>
            <a:ext cx="73152" cy="105156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9440" y="4123944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alibri"/>
              </a:rPr>
              <a:t>Class MRO walked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62272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C6B7A"/>
                </a:solidFill>
                <a:latin typeface="Calibri"/>
              </a:rPr>
              <a:t>Subclass methods inherited from parents are visible to type inference.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5175504"/>
            <a:ext cx="50292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675120" y="5175504"/>
            <a:ext cx="73152" cy="105156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49440" y="5340096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B2C"/>
                </a:solidFill>
                <a:latin typeface="Calibri"/>
              </a:rPr>
              <a:t>Imports scope the RAG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678424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C6B7A"/>
                </a:solidFill>
                <a:latin typeface="Calibri"/>
              </a:rPr>
              <a:t>Only classes reachable from this file become retrieval candidates.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C6B7A"/>
                </a:solidFill>
                <a:latin typeface="Calibri"/>
              </a:rPr>
              <a:t>PyCG: Salis et al., 2020 (Apache 2.0) — vendored static-analysis library.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1 — TYPE INFERENCE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09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What's the type of a parameter? Ask the project.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C6B7A"/>
                </a:solidFill>
                <a:latin typeface="Cambria"/>
              </a:rPr>
              <a:t>Python won't tell us. The codebase already has the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287" y="2468880"/>
            <a:ext cx="36576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6607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6B5C"/>
                </a:solidFill>
                <a:latin typeface="Calibri"/>
              </a:rPr>
              <a:t>1.  Inspect usage (AST)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607" y="320040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Scan the function body.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Record every attribute the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parameter is asked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6607" y="4663440"/>
            <a:ext cx="3108960" cy="11887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3767" y="475488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param.login()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param.send(msg)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→ {login, send}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9887" y="4297680"/>
            <a:ext cx="137160" cy="0"/>
          </a:xfrm>
          <a:prstGeom prst="line">
            <a:avLst/>
          </a:prstGeom>
          <a:ln w="38100">
            <a:solidFill>
              <a:srgbClr val="0D1B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267047" y="2468880"/>
            <a:ext cx="36576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1367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6B5C"/>
                </a:solidFill>
                <a:latin typeface="Calibri"/>
              </a:rPr>
              <a:t>2.  Syntactic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320040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Find classes whose member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set includes those names.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Inheritance counts (MRO).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1367" y="4663440"/>
            <a:ext cx="3108960" cy="11887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78527" y="475488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Match: User, ServiceUser,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MockClient. 9 others pruned.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24647" y="4297680"/>
            <a:ext cx="137160" cy="0"/>
          </a:xfrm>
          <a:prstGeom prst="line">
            <a:avLst/>
          </a:prstGeom>
          <a:ln w="38100">
            <a:solidFill>
              <a:srgbClr val="0D1B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061807" y="2468880"/>
            <a:ext cx="36576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6127" y="27432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6B5C"/>
                </a:solidFill>
                <a:latin typeface="Calibri"/>
              </a:rPr>
              <a:t>3.  Semantic RAG (Chroma)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20040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Embed an LLM-written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"meaning" of the parameter.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B2C"/>
                </a:solidFill>
                <a:latin typeface="Calibri"/>
              </a:rPr>
              <a:t>Top-K against class summaries.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6127" y="4663440"/>
            <a:ext cx="3108960" cy="11887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73287" y="475488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→ Top-3 candidates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D1B3D"/>
                </a:solidFill>
                <a:latin typeface="Consolas"/>
              </a:rPr>
              <a:t>  with how-to-use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D1B3D"/>
                </a:solidFill>
                <a:latin typeface="Calibri"/>
              </a:rPr>
              <a:t>Result lands in the Planner prompt as INFERRED TYPES &amp; USAGE.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2 — PLANNER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The actual prompt we send. For EfRegister.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881360" cy="4297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10607040" cy="411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System: You are a QA Lead. Analyze the function and output a Test Plan in JSON.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User: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CONTEXT: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Function Name: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EfRegister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.__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init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__   Module: register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SOURCE CODE: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class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EfRegister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: ...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def __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init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__(self):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    super().__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init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__()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   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self.renderfuncs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[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Sgr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] =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renderfunc.sgr</a:t>
            </a:r>
            <a:endParaRPr sz="1100" dirty="0">
              <a:solidFill>
                <a:srgbClr val="141B2C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   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self.b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 = Style(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Sgr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(1))  ; 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self.bold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 = Style(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Sgr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(1))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    ...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INFERRED TYPES &amp; USAGE: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Style(*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sgrs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) wraps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Sgr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 codes into a string-coercible ANSI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escape object.  str(Style(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Sgr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(1))) → '\x1b[1m'.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DOCSTRING SUMMARY: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Initialises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 12 text-effect Style objects on the instance.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No parameters. Side-effects on self only.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COVERAGE FEEDBACK:  First pass: Try to achieve maximum coverage.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TASK: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Generate 3 distinct test scenarios covering: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1. Valid inputs (Happy Path)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2. Edge cases (None, empty, boundary)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  3. Invalid inputs / Error handling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OUTPUT FORMAT:  Return ONLY a raw JSON list. No Markdown.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C6B7A"/>
                </a:solidFill>
                <a:latin typeface="Calibri"/>
              </a:rPr>
              <a:t>Real prompt from llm_traffic.log. Some lines collapsed for readability.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2 — PLANNER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What comes back: a plan, in JSON.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6858000" cy="42976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6583680" cy="41148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{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"name":  "test_valid_inputs",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"desc":  "Test standard inputs to ensure all effects are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          correctly initialized and can be applied.",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"setup": "ef = EfRegister()"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},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{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"name":  "test_edge_cases",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"desc":  "Test edge cases with boundary values and verify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          that the reset effect clears all applied styles.",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"setup": "ef = EfRegister()"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},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{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"name":  "test_invalid_inputs",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"desc":  "Verify the instance exposes every documented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          attribute and the renderfuncs dict is set.",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    "setup": "ef = EfRegister()"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    }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141B2C"/>
                </a:solidFill>
                <a:latin typeface="Consolas"/>
              </a:rPr>
              <a:t>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92024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WHAT THIS BUYS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86000"/>
            <a:ext cx="3840480" cy="16544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 dirty="0">
                <a:solidFill>
                  <a:srgbClr val="141B2C"/>
                </a:solidFill>
                <a:latin typeface="Calibri"/>
              </a:rPr>
              <a:t>Three independent scenarios.</a:t>
            </a:r>
          </a:p>
          <a:p>
            <a:pPr algn="l">
              <a:lnSpc>
                <a:spcPct val="140000"/>
              </a:lnSpc>
            </a:pPr>
            <a:endParaRPr sz="1300" b="0" i="0" dirty="0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300" b="0" i="0" dirty="0">
                <a:solidFill>
                  <a:srgbClr val="141B2C"/>
                </a:solidFill>
                <a:latin typeface="Calibri"/>
              </a:rPr>
              <a:t>Each one is small, focused, and self-contained.</a:t>
            </a:r>
          </a:p>
          <a:p>
            <a:pPr algn="l">
              <a:lnSpc>
                <a:spcPct val="140000"/>
              </a:lnSpc>
            </a:pPr>
            <a:endParaRPr sz="1300" b="0" i="0" dirty="0">
              <a:solidFill>
                <a:srgbClr val="141B2C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300" b="0" i="0" dirty="0">
                <a:solidFill>
                  <a:srgbClr val="141B2C"/>
                </a:solidFill>
                <a:latin typeface="Calibri"/>
              </a:rPr>
              <a:t>The next agent doesn't have to think about strategy</a:t>
            </a:r>
            <a:r>
              <a:rPr lang="pt-PT" sz="1300" b="0" i="0" dirty="0">
                <a:solidFill>
                  <a:srgbClr val="141B2C"/>
                </a:solidFill>
                <a:latin typeface="Calibri"/>
              </a:rPr>
              <a:t>,</a:t>
            </a:r>
            <a:r>
              <a:rPr sz="1300" b="0" i="0" dirty="0">
                <a:solidFill>
                  <a:srgbClr val="141B2C"/>
                </a:solidFill>
                <a:latin typeface="Calibri"/>
              </a:rPr>
              <a:t> just </a:t>
            </a:r>
            <a:r>
              <a:rPr lang="pt-PT" sz="1300" b="0" i="0" dirty="0">
                <a:solidFill>
                  <a:srgbClr val="141B2C"/>
                </a:solidFill>
                <a:latin typeface="Calibri"/>
              </a:rPr>
              <a:t>to </a:t>
            </a:r>
            <a:r>
              <a:rPr sz="1300" b="0" i="0" dirty="0">
                <a:solidFill>
                  <a:srgbClr val="141B2C"/>
                </a:solidFill>
                <a:latin typeface="Calibri"/>
              </a:rPr>
              <a:t>translate one bullet at a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5303520"/>
            <a:ext cx="3840480" cy="91440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59" y="53949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06B5C"/>
                </a:solidFill>
                <a:latin typeface="Calibri"/>
              </a:rPr>
              <a:t>Note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566928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Robust parser: malformed JSON falls back to a single</a:t>
            </a:r>
          </a:p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basic-test scenario.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PHASE 2 — ASSERTION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One scenario in. One pytest function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486400" cy="4114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5212080" cy="3931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System: You are a Pytest Expert. Write valid python code.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User: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Write a SINGLE pytest function for: test_valid_inputs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DESC: Test standard inputs to ensure all effects are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correctly initialized and can be applied.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SETUP: ef = EfRegister()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FUNCTION CODE: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class EfRegister: ...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def __init__(self): ...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RULES: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1. Output ONLY python code in ```python``` block.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2. Import correctly from module 'register'.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3. CRITICAL MOCKING RULE: use patch() or monkeypatch.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Never assign mocks to global modules.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8655"/>
                </a:solidFill>
                <a:latin typeface="Calibri"/>
              </a:rPr>
              <a:t>GENERATED CODE (passes after 1 self-heal)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286000"/>
            <a:ext cx="5486400" cy="4114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2377440"/>
            <a:ext cx="5212080" cy="3931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import pytest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from sty import register, Style, Sgr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@pytest.fixture(scope="module")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def ef():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return register.EfRegister()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def test_valid_inputs(ef):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str(ef.bold)    == "\033[1m"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str(ef.italic)  == "\033[3m"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str(ef.underl)  == "\033[4m"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str(ef.blink)   == "\033[5m"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str(ef.inverse) == "\033[7m"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str(ef.hidden)  == "\033[8m"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str(ef.strike)  == "\033[9m"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# reset = concat of all SGR codes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str(ef.rs) == 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    "\033[22m\033[23m\033[24m\033[25m\033[27m\033[28m\033[29m"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37960"/>
            <a:ext cx="10972800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 dirty="0">
                <a:solidFill>
                  <a:srgbClr val="0D1B3D"/>
                </a:solidFill>
                <a:latin typeface="Calibri"/>
              </a:rPr>
              <a:t>Uses a </a:t>
            </a:r>
            <a:r>
              <a:rPr sz="1100" b="0" i="1" dirty="0" err="1">
                <a:solidFill>
                  <a:srgbClr val="0D1B3D"/>
                </a:solidFill>
                <a:latin typeface="Calibri"/>
              </a:rPr>
              <a:t>pytest</a:t>
            </a:r>
            <a:r>
              <a:rPr sz="1100" b="0" i="1" dirty="0">
                <a:solidFill>
                  <a:srgbClr val="0D1B3D"/>
                </a:solidFill>
                <a:latin typeface="Calibri"/>
              </a:rPr>
              <a:t> fixture. Knows the alias map. Gets the reset sequence right  after one repair.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INNER LOOP — SELF-HEALING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When pytest disagrees, the agent listens.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ATTEMPT 1  ·  generated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48640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5212080" cy="1645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def test_valid_inputs():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ef = EfRegister()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str(ef.bold) == "\x1b[1m"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str(ef.italic) == "\x1b[3m"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# ... 6 more assertions ...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str(ef.rs) == "\x1b[0m"   # ← assumed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0392B"/>
                </a:solidFill>
                <a:latin typeface="Calibri"/>
              </a:rPr>
              <a:t>PYTEST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434840"/>
            <a:ext cx="5486400" cy="11887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5212080" cy="10058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C0392B"/>
                </a:solidFill>
                <a:latin typeface="Consolas"/>
              </a:rPr>
              <a:t>AssertionError: assert '\x1b[22m\x1b[23m...\x1b[29m' == '\x1b[0m'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C0392B"/>
                </a:solidFill>
                <a:latin typeface="Consolas"/>
              </a:rPr>
              <a:t>  - [0m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C0392B"/>
                </a:solidFill>
                <a:latin typeface="Consolas"/>
              </a:rPr>
              <a:t>  + [22m[23m[24m[25m[27m[28m[29m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8655"/>
                </a:solidFill>
                <a:latin typeface="Calibri"/>
              </a:rPr>
              <a:t>ATTEMPT 2  ·  rewritten with ground truth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03120"/>
            <a:ext cx="548640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5212080" cy="1645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def test_valid_inputs(ef):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# ... same effects ...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str(ef.bold)   == "\033[1m"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assert str(ef.italic) == "\033[3m"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# ...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E8655"/>
                </a:solidFill>
                <a:latin typeface="Consolas"/>
              </a:rPr>
              <a:t>    # reset is the concatenation of all SGR codes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2E8655"/>
                </a:solidFill>
                <a:latin typeface="Consolas"/>
              </a:rPr>
              <a:t>    assert str(ef.rs) == 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141B2C"/>
                </a:solidFill>
                <a:latin typeface="Consolas"/>
              </a:rPr>
              <a:t>        "\033[22m\033[23m\033[24m\033[25m\033[27m\033[28m\033[29m\"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114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8655"/>
                </a:solidFill>
                <a:latin typeface="Calibri"/>
              </a:rPr>
              <a:t>PYTEST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348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E8655"/>
                </a:solidFill>
                <a:latin typeface="Consolas"/>
              </a:rPr>
              <a:t>PASSED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60720"/>
            <a:ext cx="11247120" cy="82296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D1B3D"/>
                </a:solidFill>
                <a:latin typeface="Calibri"/>
              </a:rPr>
              <a:t>The LLM had the wrong assumption: reset = \x1b[0m, the common ANSI reset.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72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D1B3D"/>
                </a:solidFill>
                <a:latin typeface="Calibri"/>
              </a:rPr>
              <a:t>Pytest gave it the truth from the real instance. It rewrote correctly. Up to 3 attempts; otherwise quarantined.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OUTER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Round 2 onward: chase the missed 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ECF5"/>
                </a:solidFill>
                <a:latin typeface="Calibri"/>
              </a:rPr>
              <a:t>Suite passes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219456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07792" y="24231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ECF5"/>
                </a:solidFill>
                <a:latin typeface="Calibri"/>
              </a:rPr>
              <a:t>Run coverage.py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2651760"/>
            <a:ext cx="164592" cy="0"/>
          </a:xfrm>
          <a:prstGeom prst="line">
            <a:avLst/>
          </a:prstGeom>
          <a:ln w="25400">
            <a:solidFill>
              <a:srgbClr val="6E8C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19456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75504" y="24231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ECF5"/>
                </a:solidFill>
                <a:latin typeface="Calibri"/>
              </a:rPr>
              <a:t>Find missed lines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10912" y="2651760"/>
            <a:ext cx="164592" cy="0"/>
          </a:xfrm>
          <a:prstGeom prst="line">
            <a:avLst/>
          </a:prstGeom>
          <a:ln w="25400">
            <a:solidFill>
              <a:srgbClr val="6E8C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219456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43216" y="24231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ECF5"/>
                </a:solidFill>
                <a:latin typeface="Calibri"/>
              </a:rPr>
              <a:t>Augment Planner prompt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78624" y="2651760"/>
            <a:ext cx="164592" cy="0"/>
          </a:xfrm>
          <a:prstGeom prst="line">
            <a:avLst/>
          </a:prstGeom>
          <a:ln w="25400">
            <a:solidFill>
              <a:srgbClr val="6E8C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19456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10928" y="2423160"/>
            <a:ext cx="2103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6ECF5"/>
                </a:solidFill>
                <a:latin typeface="Calibri"/>
              </a:rPr>
              <a:t>New scenarios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46336" y="2651760"/>
            <a:ext cx="164592" cy="0"/>
          </a:xfrm>
          <a:prstGeom prst="line">
            <a:avLst/>
          </a:prstGeom>
          <a:ln w="25400">
            <a:solidFill>
              <a:srgbClr val="6E8C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762488" y="3108960"/>
            <a:ext cx="0" cy="320040"/>
          </a:xfrm>
          <a:prstGeom prst="line">
            <a:avLst/>
          </a:prstGeom>
          <a:ln w="25400">
            <a:solidFill>
              <a:srgbClr val="0D1B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691640" y="3429000"/>
            <a:ext cx="9070848" cy="0"/>
          </a:xfrm>
          <a:prstGeom prst="line">
            <a:avLst/>
          </a:prstGeom>
          <a:ln w="25400">
            <a:solidFill>
              <a:srgbClr val="0D1B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691640" y="3108960"/>
            <a:ext cx="0" cy="320040"/>
          </a:xfrm>
          <a:prstGeom prst="line">
            <a:avLst/>
          </a:prstGeom>
          <a:ln w="25400">
            <a:solidFill>
              <a:srgbClr val="0D1B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965960" y="3108960"/>
            <a:ext cx="8522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E3A6F"/>
                </a:solidFill>
                <a:latin typeface="Calibri"/>
              </a:rPr>
              <a:t>repeat for N rounds (default: 3)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WHAT ROUND 2'S PLANNER PROMPT NOW INCLUDES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09160"/>
            <a:ext cx="10972800" cy="1783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800600"/>
            <a:ext cx="10698480" cy="1600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CONTEXT: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Function Name: 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EfRegister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.__</a:t>
            </a:r>
            <a:r>
              <a:rPr sz="1100" dirty="0" err="1">
                <a:solidFill>
                  <a:srgbClr val="141B2C"/>
                </a:solidFill>
                <a:latin typeface="Consolas"/>
              </a:rPr>
              <a:t>init</a:t>
            </a:r>
            <a:r>
              <a:rPr sz="1100" dirty="0">
                <a:solidFill>
                  <a:srgbClr val="141B2C"/>
                </a:solidFill>
                <a:latin typeface="Consolas"/>
              </a:rPr>
              <a:t>__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...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COVERAGE FEEDBACK: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  MISSING LINES TO COVER: 17, 22-24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TASK: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CRITICAL: If 'MISSING LINES TO COVER' are provided in the context,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you MUST design scenarios specifically to execute those missing lines.</a:t>
            </a:r>
          </a:p>
          <a:p>
            <a:pPr algn="l">
              <a:lnSpc>
                <a:spcPct val="115000"/>
              </a:lnSpc>
            </a:pPr>
            <a:r>
              <a:rPr sz="1100" dirty="0">
                <a:solidFill>
                  <a:srgbClr val="141B2C"/>
                </a:solidFill>
                <a:latin typeface="Consolas"/>
              </a:rPr>
              <a:t>  Generate 3 distinct test scenarios covering: ...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PRELIMINARY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Real numbers: TEST4PY vs MARTA.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C6B7A"/>
                </a:solidFill>
                <a:latin typeface="Cambria"/>
              </a:rPr>
              <a:t>10 projects · DeepSeek-Coder-V2 16B · temp 0.2 · single run per setup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2651760"/>
          <a:ext cx="7498079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8503920" y="2651760"/>
            <a:ext cx="32004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503920" y="2651760"/>
            <a:ext cx="73152" cy="132588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01752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41B2C"/>
                </a:solidFill>
                <a:latin typeface="Cambria"/>
              </a:rPr>
              <a:t>+6.8 pts on average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56616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MARTA wins 8 / 10 projects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069080"/>
            <a:ext cx="32004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03920" y="4069080"/>
            <a:ext cx="73152" cy="132588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32520" y="41788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D1B3D"/>
                </a:solidFill>
                <a:latin typeface="Calibri"/>
              </a:rPr>
              <a:t>TESTS PASSED (VALID)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443484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41B2C"/>
                </a:solidFill>
                <a:latin typeface="Cambria"/>
              </a:rPr>
              <a:t>220 → 2020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98348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~9× more across the 10 projects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5486400"/>
            <a:ext cx="32004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503920" y="5486400"/>
            <a:ext cx="73152" cy="132588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32520" y="559612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06B5C"/>
                </a:solidFill>
                <a:latin typeface="Calibri"/>
              </a:rPr>
              <a:t>MUTATION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585216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 dirty="0">
                <a:solidFill>
                  <a:srgbClr val="141B2C"/>
                </a:solidFill>
                <a:latin typeface="Cambria"/>
              </a:rPr>
              <a:t>Mixed: 5 / 9 wins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64008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Strong gains on sty (+22), flutes (+40),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5C6B7A"/>
                </a:solidFill>
                <a:latin typeface="Calibri"/>
              </a:rPr>
              <a:t>superstring (+18). Losses on codetiming.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10972800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 dirty="0">
                <a:solidFill>
                  <a:srgbClr val="5C6B7A"/>
                </a:solidFill>
                <a:latin typeface="Calibri"/>
              </a:rPr>
              <a:t>Caveat: single execution per configuration. No statistical test yet</a:t>
            </a:r>
            <a:r>
              <a:rPr lang="pt-PT" sz="1000" b="0" i="1" dirty="0">
                <a:solidFill>
                  <a:srgbClr val="5C6B7A"/>
                </a:solidFill>
                <a:latin typeface="Calibri"/>
              </a:rPr>
              <a:t>.</a:t>
            </a:r>
            <a:endParaRPr sz="1000" b="0" i="1" dirty="0">
              <a:solidFill>
                <a:srgbClr val="5C6B7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5C6B7A"/>
                </a:solidFill>
                <a:latin typeface="Calibri"/>
              </a:rP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B2C"/>
                </a:solidFill>
                <a:latin typeface="Cambria"/>
              </a:rPr>
              <a:t>What lands on disk: a real suite for one function.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287" y="2194560"/>
            <a:ext cx="3657600" cy="45720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2287" y="2286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ECF5"/>
                </a:solidFill>
                <a:latin typeface="Consolas"/>
              </a:rPr>
              <a:t>test_valid_inputs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72287" y="2651760"/>
            <a:ext cx="3657600" cy="3657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447" y="2743200"/>
            <a:ext cx="3383280" cy="3474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import pytest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from sty import register, Style, Sgr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@pytest.fixture(scope="module")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def ef():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return register.EfRegister()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def test_valid_inputs(ef):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str(ef.bold)   == "\033[1m"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str(ef.italic) == "\033[3m"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str(ef.underl) == "\033[4m"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str(ef.blink)  == "\033[5m"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# ... 4 more effects ...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str(ef.rs) == \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"\033[22m...\033[29m"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7047" y="2194560"/>
            <a:ext cx="3657600" cy="45720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67047" y="2286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ECF5"/>
                </a:solidFill>
                <a:latin typeface="Consolas"/>
              </a:rPr>
              <a:t>test_edge_cases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7047" y="2651760"/>
            <a:ext cx="3657600" cy="3657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4207" y="2743200"/>
            <a:ext cx="3383280" cy="3474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import pytest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from sty import register, Style, Sgr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def test_edge_cases():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ef = register.EfRegister()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# bold and b are aliases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ef.bold is not ef.b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str(ef.bold) == str(ef.b)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# rs joins all reset SGRs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ef.rs.args is not None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# reset clears every effect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s = f"{ef.bold}X{ef.rs}"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s.endswith(str(ef.rs))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1807" y="2194560"/>
            <a:ext cx="3657600" cy="45720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1807" y="2286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6ECF5"/>
                </a:solidFill>
                <a:latin typeface="Consolas"/>
              </a:rPr>
              <a:t>test_invalid_inputs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1807" y="2651760"/>
            <a:ext cx="3657600" cy="36576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98967" y="2743200"/>
            <a:ext cx="3383280" cy="3474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import pytest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from sty import EfRegister, Style, Sgr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from sty.renderfunc import sgr as r_sgr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def test_invalid_inputs():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ef = EfRegister()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# structural invariants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for name in ("b", "bold", "dim",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         "italic", "underl",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         "blink", "hidden",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         "strike", "rs"):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assert hasattr(ef, name)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assert isinstance(getattr(ef, name),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                      Style)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141B2C"/>
                </a:solidFill>
                <a:latin typeface="Consolas"/>
              </a:rPr>
              <a:t>    assert ef.renderfuncs[Sgr] is r_sgr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9224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D1B3D"/>
                </a:solidFill>
                <a:latin typeface="Calibri"/>
              </a:rPr>
              <a:t>Three files. Three concerns. All passing.   Each one isolated → one bad test never poisons the suite.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28600" cy="228600"/>
          </a:xfrm>
          <a:prstGeom prst="rect">
            <a:avLst/>
          </a:prstGeom>
          <a:solidFill>
            <a:srgbClr val="E0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640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5C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200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6ECF5"/>
                </a:solidFill>
                <a:latin typeface="Calibri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ECF5"/>
                </a:solidFill>
                <a:latin typeface="Cambria"/>
              </a:rPr>
              <a:t>What we showed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10972800" cy="1051560"/>
          </a:xfrm>
          <a:prstGeom prst="rect">
            <a:avLst/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7315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06B5C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90779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5"/>
                </a:solidFill>
                <a:latin typeface="Cambria"/>
              </a:rPr>
              <a:t>Two specialised agents beat one big prompt.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246120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8CB8"/>
                </a:solidFill>
                <a:latin typeface="Calibri"/>
              </a:rPr>
              <a:t>Planner thinks scenarios. Assertion writes code.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8CB8"/>
                </a:solidFill>
                <a:latin typeface="Calibri"/>
              </a:rPr>
              <a:t>Each prompt is smaller and more focused — fewer hallucinations.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10972800" cy="1051560"/>
          </a:xfrm>
          <a:prstGeom prst="rect">
            <a:avLst/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7315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06B5C"/>
                </a:solidFill>
                <a:latin typeface="Cambr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09651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5"/>
                </a:solidFill>
                <a:latin typeface="Cambria"/>
              </a:rPr>
              <a:t>Context comes from the call graph, not the source.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434840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8CB8"/>
                </a:solidFill>
                <a:latin typeface="Calibri"/>
              </a:rPr>
              <a:t>PyCG + recursive summaries + RAG over class types.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8CB8"/>
                </a:solidFill>
                <a:latin typeface="Calibri"/>
              </a:rPr>
              <a:t>The LLM gets understanding, not a wall of code.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20640"/>
            <a:ext cx="10972800" cy="1051560"/>
          </a:xfrm>
          <a:prstGeom prst="rect">
            <a:avLst/>
          </a:prstGeom>
          <a:solidFill>
            <a:srgbClr val="1E3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7315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E06B5C"/>
                </a:solidFill>
                <a:latin typeface="Cambr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528523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6ECF5"/>
                </a:solidFill>
                <a:latin typeface="Cambria"/>
              </a:rPr>
              <a:t>The runtime is the teacher.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623560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8CB8"/>
                </a:solidFill>
                <a:latin typeface="Calibri"/>
              </a:rPr>
              <a:t>Pylint and pytest are the cheapest, most honest critics.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8CB8"/>
                </a:solidFill>
                <a:latin typeface="Calibri"/>
              </a:rPr>
              <a:t>On failure: real error → rewrite → retry. Up to 3 attempts.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2104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 dirty="0">
                <a:solidFill>
                  <a:srgbClr val="6E8CB8"/>
                </a:solidFill>
                <a:latin typeface="Cambria"/>
              </a:rPr>
              <a:t>Honest limitation: MARTA captures what the code does, not what it should</a:t>
            </a:r>
            <a:r>
              <a:rPr lang="pt-PT" sz="1300" b="0" i="1" dirty="0">
                <a:solidFill>
                  <a:srgbClr val="6E8CB8"/>
                </a:solidFill>
                <a:latin typeface="Cambria"/>
              </a:rPr>
              <a:t>,</a:t>
            </a:r>
            <a:r>
              <a:rPr sz="1300" b="0" i="1" dirty="0">
                <a:solidFill>
                  <a:srgbClr val="6E8CB8"/>
                </a:solidFill>
                <a:latin typeface="Cambria"/>
              </a:rPr>
              <a:t> these are regression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3065</Words>
  <Application>Microsoft Macintosh PowerPoint</Application>
  <PresentationFormat>Ecrã Panorâmico</PresentationFormat>
  <Paragraphs>438</Paragraphs>
  <Slides>17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Cambria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Mario Joao Gomes Ribeiro</cp:lastModifiedBy>
  <cp:revision>2</cp:revision>
  <dcterms:created xsi:type="dcterms:W3CDTF">2013-01-27T09:14:16Z</dcterms:created>
  <dcterms:modified xsi:type="dcterms:W3CDTF">2026-06-03T14:31:35Z</dcterms:modified>
  <cp:category/>
</cp:coreProperties>
</file>